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121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377440"/>
            <a:ext cx="5669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1F5F9"/>
                </a:solidFill>
                <a:latin typeface="Helvetica Neue"/>
              </a:rPr>
              <a:t>SSD Firmware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1F5F9"/>
                </a:solidFill>
                <a:latin typeface="Helvetica Neue"/>
              </a:rPr>
              <a:t>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0690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1A3A6E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5029200"/>
            <a:ext cx="758952" cy="310896"/>
          </a:xfrm>
          <a:prstGeom prst="roundRect">
            <a:avLst>
              <a:gd name="adj" fmla="val 50000"/>
            </a:avLst>
          </a:prstGeom>
          <a:solidFill>
            <a:srgbClr val="4B266F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FTL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502920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0F582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3096" y="1582483"/>
            <a:ext cx="5321808" cy="3693033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s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37347"/>
            <a:ext cx="5212080" cy="35833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60" y="553212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A real NVMe SSD — controller, DRAM &amp; NAND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Contents — 13 Sections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02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56231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Helvetica Neue"/>
              </a:rPr>
              <a:t>Why Firmware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7860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43226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7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Helvetica Neue"/>
              </a:rPr>
              <a:t>Controller Hardware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19856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387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Helvetica Neue"/>
              </a:rPr>
              <a:t>Three-Layer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61104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23F04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7997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Helvetica Neue"/>
              </a:rPr>
              <a:t>Front-End (FE)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102352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544C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221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Helvetica Neue"/>
              </a:rPr>
              <a:t>Flash Translation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173736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1856231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Helvetica Neue"/>
              </a:rPr>
              <a:t>Back-End (BE)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257860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43226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59" y="269747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Helvetica Neue"/>
              </a:rPr>
              <a:t>DRAM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419856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35387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Helvetica Neue"/>
              </a:rPr>
              <a:t>Multi-Core Firmware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4261104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23F04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437997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Helvetica Neue"/>
              </a:rPr>
              <a:t>Boot Sequence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5102352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2544C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59" y="5221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Helvetica Neue"/>
              </a:rPr>
              <a:t>Firmware Update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173736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856231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Helvetica Neue"/>
              </a:rPr>
              <a:t>Power-Loss Recovery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57860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43226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69747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Helvetica Neue"/>
              </a:rPr>
              <a:t>QoS &amp; Scheduling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3419856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5387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Helvetica Neue"/>
              </a:rPr>
              <a:t>End-to-End Write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1 ·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Why Firmware Exists: NAND's 3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03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801368"/>
            <a:ext cx="292608" cy="8229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72821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No in-place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258568"/>
            <a:ext cx="2971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F4444"/>
                </a:solidFill>
                <a:latin typeface="Helvetica Neue"/>
              </a:rPr>
              <a:t>▸  </a:t>
            </a:r>
            <a:r>
              <a:rPr sz="1250">
                <a:solidFill>
                  <a:srgbClr val="F1F5F9"/>
                </a:solidFill>
                <a:latin typeface="Helvetica Neue"/>
              </a:rPr>
              <a:t>A page can't be overwritten — the whole block must be erased first, then reprogrammed.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154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D73D3D"/>
                </a:solidFill>
                <a:latin typeface="Helvetica Neue"/>
              </a:rPr>
              <a:t>#1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60020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5151" y="1801368"/>
            <a:ext cx="292608" cy="822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199" y="172821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Asymmetric granularity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258568"/>
            <a:ext cx="2971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Helvetica Neue"/>
              </a:rPr>
              <a:t>▸  </a:t>
            </a:r>
            <a:r>
              <a:rPr sz="1250">
                <a:solidFill>
                  <a:srgbClr val="F1F5F9"/>
                </a:solidFill>
                <a:latin typeface="Helvetica Neue"/>
              </a:rPr>
              <a:t>Read/write act on pages (~16 KB); erase acts on blocks (many MB).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154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DC8E09"/>
                </a:solidFill>
                <a:latin typeface="Helvetica Neue"/>
              </a:rPr>
              <a:t>#2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60020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48471" y="1801368"/>
            <a:ext cx="292608" cy="82296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19" y="172821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Limited endurance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1" y="2258568"/>
            <a:ext cx="2971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A855F7"/>
                </a:solidFill>
                <a:latin typeface="Helvetica Neue"/>
              </a:rPr>
              <a:t>▸  </a:t>
            </a:r>
            <a:r>
              <a:rPr sz="1250">
                <a:solidFill>
                  <a:srgbClr val="F1F5F9"/>
                </a:solidFill>
                <a:latin typeface="Helvetica Neue"/>
              </a:rPr>
              <a:t>Each block survives a finite number of Program/Erase (P/E) cycles.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3154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974CDE"/>
                </a:solidFill>
                <a:latin typeface="Helvetica Neue"/>
              </a:rPr>
              <a:t>#3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23360"/>
            <a:ext cx="10972800" cy="86868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The fix: a log-structured design</a:t>
            </a:r>
          </a:p>
          <a:p>
            <a:pPr algn="ctr"/>
            <a:r>
              <a:rPr sz="1250">
                <a:solidFill>
                  <a:srgbClr val="94A3B8"/>
                </a:solidFill>
                <a:latin typeface="Helvetica Neue"/>
              </a:rPr>
              <a:t>Write new data to free pages sequentially; mark the old copy stale; a mapping table tracks each LBA's current location; garbage collection reclaims stale space later.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12064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" y="529437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519379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A raw NAND USB stick with no FTL would wear out its first blocks in days — firmware is what makes flash last years.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1 ·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The Three Pillars of SSD Firmware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04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1" y="1874519"/>
            <a:ext cx="1143000" cy="640080"/>
          </a:xfrm>
          <a:prstGeom prst="roundRect">
            <a:avLst>
              <a:gd name="adj" fmla="val 16000"/>
            </a:avLst>
          </a:prstGeom>
          <a:solidFill>
            <a:srgbClr val="43226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900" b="1">
                <a:solidFill>
                  <a:srgbClr val="F1F5F9"/>
                </a:solidFill>
                <a:latin typeface="Helvetica Neue"/>
              </a:rPr>
              <a:t>FTL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6974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1F5F9"/>
                </a:solidFill>
                <a:latin typeface="Helvetica Neue"/>
              </a:rPr>
              <a:t>Address Translation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20040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A855F7"/>
                </a:solidFill>
                <a:latin typeface="Helvetica Neue"/>
              </a:rPr>
              <a:t>▸  </a:t>
            </a:r>
            <a:r>
              <a:rPr sz="1250">
                <a:solidFill>
                  <a:srgbClr val="F1F5F9"/>
                </a:solidFill>
                <a:latin typeface="Helvetica Neue"/>
              </a:rPr>
              <a:t>Maintain the Logical→Physical (L2P) mapping so any LBA is found instantly.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4592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36592" y="1874519"/>
            <a:ext cx="1143000" cy="640080"/>
          </a:xfrm>
          <a:prstGeom prst="roundRect">
            <a:avLst>
              <a:gd name="adj" fmla="val 16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900" b="1">
                <a:solidFill>
                  <a:srgbClr val="F1F5F9"/>
                </a:solidFill>
                <a:latin typeface="Helvetica Neue"/>
              </a:rPr>
              <a:t>GC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6974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1F5F9"/>
                </a:solidFill>
                <a:latin typeface="Helvetica Neue"/>
              </a:rPr>
              <a:t>Garbage 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20040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2C55E"/>
                </a:solidFill>
                <a:latin typeface="Helvetica Neue"/>
              </a:rPr>
              <a:t>▸  </a:t>
            </a:r>
            <a:r>
              <a:rPr sz="1250">
                <a:solidFill>
                  <a:srgbClr val="F1F5F9"/>
                </a:solidFill>
                <a:latin typeface="Helvetica Neue"/>
              </a:rPr>
              <a:t>Reclaim space from blocks full of stale pages by relocating valid data &amp; erasing.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4592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1" y="1874519"/>
            <a:ext cx="1143000" cy="640080"/>
          </a:xfrm>
          <a:prstGeom prst="roundRect">
            <a:avLst>
              <a:gd name="adj" fmla="val 16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900" b="1">
                <a:solidFill>
                  <a:srgbClr val="F1F5F9"/>
                </a:solidFill>
                <a:latin typeface="Helvetica Neue"/>
              </a:rPr>
              <a:t>WL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26974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1F5F9"/>
                </a:solidFill>
                <a:latin typeface="Helvetica Neue"/>
              </a:rPr>
              <a:t>Wear Leveling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320040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250">
                <a:solidFill>
                  <a:srgbClr val="F1F5F9"/>
                </a:solidFill>
                <a:latin typeface="Helvetica Neue"/>
              </a:rPr>
              <a:t>Spread P/E cycles evenly so all blocks wear out at roughly the same rate.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4632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502005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1288" y="491947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Production SSD firmware is 500K–2M+ lines of C/C++ on multi-core ARM/RISC-V with hard real-time constraints.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2 ·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Controller Hardware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05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7040880" cy="3611880"/>
          </a:xfrm>
          <a:prstGeom prst="roundRect">
            <a:avLst>
              <a:gd name="adj" fmla="val 4000"/>
            </a:avLst>
          </a:prstGeom>
          <a:solidFill>
            <a:srgbClr val="121B2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Helvetica Neue"/>
              </a:rPr>
              <a:t>CONTROLLER SoC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057400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Host Interface</a:t>
            </a:r>
          </a:p>
          <a:p>
            <a:pPr algn="ctr"/>
            <a:r>
              <a:rPr sz="950">
                <a:solidFill>
                  <a:srgbClr val="94A3B8"/>
                </a:solidFill>
                <a:latin typeface="Helvetica Neue"/>
              </a:rPr>
              <a:t>PCIe/NVMe PHY • Gen4 x4 • DMA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05740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21122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4A3B8"/>
                </a:solidFill>
                <a:latin typeface="Helvetica Neue"/>
              </a:rPr>
              <a:t>CPU SUBSYSTEM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395728"/>
            <a:ext cx="1097280" cy="438912"/>
          </a:xfrm>
          <a:prstGeom prst="roundRect">
            <a:avLst>
              <a:gd name="adj" fmla="val 15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Core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0872" y="2395728"/>
            <a:ext cx="1097280" cy="438912"/>
          </a:xfrm>
          <a:prstGeom prst="roundRect">
            <a:avLst>
              <a:gd name="adj" fmla="val 15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Core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2944368"/>
            <a:ext cx="1097280" cy="438912"/>
          </a:xfrm>
          <a:prstGeom prst="roundRect">
            <a:avLst>
              <a:gd name="adj" fmla="val 15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Core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0872" y="2944368"/>
            <a:ext cx="1097280" cy="438912"/>
          </a:xfrm>
          <a:prstGeom prst="roundRect">
            <a:avLst>
              <a:gd name="adj" fmla="val 15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Core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057400"/>
            <a:ext cx="1600200" cy="777240"/>
          </a:xfrm>
          <a:prstGeom prst="roundRect">
            <a:avLst>
              <a:gd name="adj" fmla="val 10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SRAM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Helvetica Neue"/>
              </a:rPr>
              <a:t>512KB–2MB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92608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ECC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Helvetica Neue"/>
              </a:rPr>
              <a:t>LDPC/BCH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3794760"/>
            <a:ext cx="2103120" cy="685800"/>
          </a:xfrm>
          <a:prstGeom prst="roundRect">
            <a:avLst>
              <a:gd name="adj" fmla="val 10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DRAM Controller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Helvetica Neue"/>
              </a:rPr>
              <a:t>256MB–4GB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3794760"/>
            <a:ext cx="2651760" cy="685800"/>
          </a:xfrm>
          <a:prstGeom prst="roundRect">
            <a:avLst>
              <a:gd name="adj" fmla="val 10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Flash Controller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Helvetica Neue"/>
              </a:rPr>
              <a:t>8 channels • timing • DMA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794760"/>
            <a:ext cx="1600200" cy="68580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8× NAND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Helvetica Neue"/>
              </a:rPr>
              <a:t>channels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856" y="2055399"/>
            <a:ext cx="3813048" cy="265576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s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110263"/>
            <a:ext cx="3703320" cy="25460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46720" y="480060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The real thing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34924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552297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" y="542239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A Gen4 controller (Phison E18, Samsung Elpis) packs 5–8 cores and 8 NAND channels to reach ~7 GB/s.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2 ·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What Each Block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06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3072384" cy="402336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2907792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Helvetica Neue"/>
              </a:rPr>
              <a:t>Block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9624" y="1600200"/>
            <a:ext cx="7900416" cy="402336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41063" y="1600200"/>
            <a:ext cx="7735824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Helvetica Neue"/>
              </a:rPr>
              <a:t>Function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002536"/>
            <a:ext cx="3072384" cy="402336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02536"/>
            <a:ext cx="2907792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Helvetica Neue"/>
              </a:rPr>
              <a:t>PCIe/NVMe PHY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9624" y="2002536"/>
            <a:ext cx="7900416" cy="402336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41063" y="2002536"/>
            <a:ext cx="7735824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Physical link to host (Gen3/4/5, x4 lanes)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404872"/>
            <a:ext cx="3072384" cy="402336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404872"/>
            <a:ext cx="2907792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Helvetica Neue"/>
              </a:rPr>
              <a:t>NVMe Accelerator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9624" y="2404872"/>
            <a:ext cx="7900416" cy="402336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41063" y="2404872"/>
            <a:ext cx="7735824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HW-assisted SQ/CQ management &amp; command parsing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07208"/>
            <a:ext cx="3072384" cy="402336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807208"/>
            <a:ext cx="2907792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Helvetica Neue"/>
              </a:rPr>
              <a:t>CPU Subsystem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9624" y="2807208"/>
            <a:ext cx="7900416" cy="402336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41063" y="2807208"/>
            <a:ext cx="7735824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2–8 ARM Cortex-R / RISC-V cores; runs firmware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209544"/>
            <a:ext cx="3072384" cy="402336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209544"/>
            <a:ext cx="2907792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Helvetica Neue"/>
              </a:rPr>
              <a:t>SRAM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9624" y="3209544"/>
            <a:ext cx="7900416" cy="402336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41063" y="3209544"/>
            <a:ext cx="7735824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On-chip fast memory for FW code, stack, critical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611879"/>
            <a:ext cx="3072384" cy="402336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611879"/>
            <a:ext cx="2907792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Helvetica Neue"/>
              </a:rPr>
              <a:t>DRAM Controller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9624" y="3611879"/>
            <a:ext cx="7900416" cy="402336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41063" y="3611879"/>
            <a:ext cx="7735824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External DRAM for L2P table, write buffer, read cache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14215"/>
            <a:ext cx="3072384" cy="402336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014215"/>
            <a:ext cx="2907792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Helvetica Neue"/>
              </a:rPr>
              <a:t>ECC Engine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9624" y="4014215"/>
            <a:ext cx="7900416" cy="402336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41063" y="4014215"/>
            <a:ext cx="7735824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Hardware LDPC/BCH encoder + decoder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416552"/>
            <a:ext cx="3072384" cy="402336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416552"/>
            <a:ext cx="2907792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Helvetica Neue"/>
              </a:rPr>
              <a:t>Flash Controller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9624" y="4416552"/>
            <a:ext cx="7900416" cy="402336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41063" y="4416552"/>
            <a:ext cx="7735824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Per-channel NAND control, DMA, timing generation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818888"/>
            <a:ext cx="3072384" cy="402336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818888"/>
            <a:ext cx="2907792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Helvetica Neue"/>
              </a:rPr>
              <a:t>Crypto Engine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9624" y="4818888"/>
            <a:ext cx="7900416" cy="402336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41063" y="4818888"/>
            <a:ext cx="7735824" cy="402336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HW AES-256 XTS for self-encrypting drive (SED)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48640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32194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Rule of thumb</a:t>
            </a:r>
          </a:p>
          <a:p>
            <a:pPr algn="ctr"/>
            <a:r>
              <a:rPr sz="1200">
                <a:solidFill>
                  <a:srgbClr val="94A3B8"/>
                </a:solidFill>
                <a:latin typeface="Helvetica Neue"/>
              </a:rPr>
              <a:t>≈ 1 GB DRAM per 1 TB of NAND — for a full page-level L2P mapping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The Three-Layer Firmware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07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554480"/>
            <a:ext cx="7680960" cy="502920"/>
          </a:xfrm>
          <a:prstGeom prst="roundRect">
            <a:avLst>
              <a:gd name="adj" fmla="val 10000"/>
            </a:avLst>
          </a:prstGeom>
          <a:solidFill>
            <a:srgbClr val="3B414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HOST  (NVMe driver)</a:t>
            </a:r>
          </a:p>
          <a:p>
            <a:pPr algn="ctr"/>
            <a:r>
              <a:rPr sz="1050">
                <a:solidFill>
                  <a:srgbClr val="94A3B8"/>
                </a:solidFill>
                <a:latin typeface="Helvetica Neue"/>
              </a:rPr>
              <a:t>PCIe / NVMe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98464" y="2066543"/>
            <a:ext cx="256032" cy="201168"/>
          </a:xfrm>
          <a:prstGeom prst="down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2313432"/>
            <a:ext cx="7680960" cy="841248"/>
          </a:xfrm>
          <a:prstGeom prst="roundRect">
            <a:avLst>
              <a:gd name="adj" fmla="val 10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FRONT-END  (FE)</a:t>
            </a:r>
          </a:p>
          <a:p>
            <a:pPr algn="ctr"/>
            <a:r>
              <a:rPr sz="1050">
                <a:solidFill>
                  <a:srgbClr val="94A3B8"/>
                </a:solidFill>
                <a:latin typeface="Helvetica Neue"/>
              </a:rPr>
              <a:t>NVMe cmd processing • SQ/CQ • PRP/SGL DMA • interrupts • namespaces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98464" y="3163824"/>
            <a:ext cx="256032" cy="201168"/>
          </a:xfrm>
          <a:prstGeom prst="down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1363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Menlo"/>
              </a:rPr>
              <a:t>ftl_read / ftl_write / ftl_trim / ftl_flush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410712"/>
            <a:ext cx="7680960" cy="841248"/>
          </a:xfrm>
          <a:prstGeom prst="roundRect">
            <a:avLst>
              <a:gd name="adj" fmla="val 10000"/>
            </a:avLst>
          </a:prstGeom>
          <a:solidFill>
            <a:srgbClr val="43226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FLASH TRANSLATION LAYER  (FTL)</a:t>
            </a:r>
          </a:p>
          <a:p>
            <a:pPr algn="ctr"/>
            <a:r>
              <a:rPr sz="1050">
                <a:solidFill>
                  <a:srgbClr val="94A3B8"/>
                </a:solidFill>
                <a:latin typeface="Helvetica Neue"/>
              </a:rPr>
              <a:t>L2P mapping • GC • wear leveling • bad-block mgmt • TRIM • power-loss recovery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98464" y="4261104"/>
            <a:ext cx="256032" cy="201168"/>
          </a:xfrm>
          <a:prstGeom prst="down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23367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Menlo"/>
              </a:rPr>
              <a:t>be_nand_read / program / erase /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507992"/>
            <a:ext cx="7680960" cy="841248"/>
          </a:xfrm>
          <a:prstGeom prst="roundRect">
            <a:avLst>
              <a:gd name="adj" fmla="val 10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BACK-END  (BE)</a:t>
            </a:r>
          </a:p>
          <a:p>
            <a:pPr algn="ctr"/>
            <a:r>
              <a:rPr sz="1050">
                <a:solidFill>
                  <a:srgbClr val="94A3B8"/>
                </a:solidFill>
                <a:latin typeface="Helvetica Neue"/>
              </a:rPr>
              <a:t>NAND channel control • ECC • read retry • multi-plane/die scheduling • suspend/resume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98464" y="5358384"/>
            <a:ext cx="256032" cy="201168"/>
          </a:xfrm>
          <a:prstGeom prst="down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533095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Menlo"/>
              </a:rPr>
              <a:t>NAND interface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5605272"/>
            <a:ext cx="7680960" cy="502920"/>
          </a:xfrm>
          <a:prstGeom prst="roundRect">
            <a:avLst>
              <a:gd name="adj" fmla="val 10000"/>
            </a:avLst>
          </a:prstGeom>
          <a:solidFill>
            <a:srgbClr val="3B414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NAND FLASH DIES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17520"/>
            <a:ext cx="1737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DD4BF"/>
                </a:solidFill>
                <a:latin typeface="Helvetica Neue"/>
              </a:rPr>
              <a:t>Each layer
one job,
one clean
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Interface Contracts Between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08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1F5F9"/>
                </a:solidFill>
                <a:latin typeface="Helvetica Neue"/>
              </a:rPr>
              <a:t>FE → FTL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ftl_read(lba, len, buf)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90088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ftl_write(lba, len, buf)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57015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ftl_trim(lba, len)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123944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ftl_flush()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1F5F9"/>
                </a:solidFill>
                <a:latin typeface="Helvetica Neue"/>
              </a:rPr>
              <a:t>FTL → 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23160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be_nand_read(ch, die, blk, pg, buf)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990088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be_nand_program(ch, die, blk, pg, buf)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557015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be_nand_erase(ch, die, blk)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123944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be_nand_status(ch, die) → ready/busy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21208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538581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528523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Clean interfaces let each layer be tested independently and mapped to different CPU cores.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0" b="1">
                <a:solidFill>
                  <a:srgbClr val="3575DD"/>
                </a:solidFill>
                <a:latin typeface="Helvetica Neue"/>
              </a:rP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794760"/>
            <a:ext cx="1280160" cy="10058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1F5F9"/>
                </a:solidFill>
                <a:latin typeface="Helvetica Neue"/>
              </a:rPr>
              <a:t>Front-End (FE)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8463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94A3B8"/>
                </a:solidFill>
                <a:latin typeface="Helvetica Neue"/>
              </a:rPr>
              <a:t>Speaking the host's language: NVMe command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09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4 · FRONT-END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4.1  NVMe Command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10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4A3B8"/>
                </a:solidFill>
                <a:latin typeface="Helvetica Neue"/>
              </a:rPr>
              <a:t>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B82F6"/>
                </a:solidFill>
                <a:latin typeface="Helvetica Neue"/>
              </a:rPr>
              <a:t>SSD CONTROLLER (FE → FTL)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64208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1  Write SQE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cmd → Submission Queue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93592" y="1988819"/>
            <a:ext cx="356616" cy="219456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23359" y="1664208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2  Ring Doorbell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SQ Tail Doorbell reg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94959" y="2532888"/>
            <a:ext cx="0" cy="1627632"/>
          </a:xfrm>
          <a:prstGeom prst="line">
            <a:avLst/>
          </a:prstGeom>
          <a:ln w="25400">
            <a:solidFill>
              <a:srgbClr val="2DD4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416052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24334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3  Fetch SQE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DMA read, 64 B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93592" y="4485131"/>
            <a:ext cx="356616" cy="219456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23359" y="416052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24334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4  Parse + Validate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opcode, LBA, NLB, PRP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39712" y="4485131"/>
            <a:ext cx="356616" cy="219456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79" y="416052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43226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5  Dispatch to FTL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internal request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664208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1B2735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755648"/>
            <a:ext cx="1874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On completion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Build CQE → DMA to CQ → MSI-X IRQ → host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48640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" y="566013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1288" y="555955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On an NVMe gaming SSD at QD32, dozens of these flows run in parallel across queue pairs, each MSI-X vector pinned to a 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4 · FRONT-END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4.2  Submission / Completion Queues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11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847088"/>
            <a:ext cx="292608" cy="822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7739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How SQ/CQ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304288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F1F5F9"/>
                </a:solidFill>
                <a:latin typeface="Helvetica Neue"/>
              </a:rPr>
              <a:t>Pointers: </a:t>
            </a:r>
            <a:r>
              <a:rPr sz="1250">
                <a:solidFill>
                  <a:srgbClr val="F1F5F9"/>
                </a:solidFill>
                <a:latin typeface="Helvetica Neue"/>
              </a:rPr>
              <a:t>SSD tracks head/tail per SQ and CQ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F1F5F9"/>
                </a:solidFill>
                <a:latin typeface="Helvetica Neue"/>
              </a:rPr>
              <a:t>SQ Doorbell: </a:t>
            </a:r>
            <a:r>
              <a:rPr sz="1250">
                <a:solidFill>
                  <a:srgbClr val="F1F5F9"/>
                </a:solidFill>
                <a:latin typeface="Helvetica Neue"/>
              </a:rPr>
              <a:t>host write signals new commands are ready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F1F5F9"/>
                </a:solidFill>
                <a:latin typeface="Helvetica Neue"/>
              </a:rPr>
              <a:t>Fetch: </a:t>
            </a:r>
            <a:r>
              <a:rPr sz="1250">
                <a:solidFill>
                  <a:srgbClr val="F1F5F9"/>
                </a:solidFill>
                <a:latin typeface="Helvetica Neue"/>
              </a:rPr>
              <a:t>FE DMA-fetches 64-byte SQ entries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F1F5F9"/>
                </a:solidFill>
                <a:latin typeface="Helvetica Neue"/>
              </a:rPr>
              <a:t>Post: </a:t>
            </a:r>
            <a:r>
              <a:rPr sz="1250">
                <a:solidFill>
                  <a:srgbClr val="F1F5F9"/>
                </a:solidFill>
                <a:latin typeface="Helvetica Neue"/>
              </a:rPr>
              <a:t>FE DMA-writes 16-byte CQ entries back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F1F5F9"/>
                </a:solidFill>
                <a:latin typeface="Helvetica Neue"/>
              </a:rPr>
              <a:t>Phase Tag (P): </a:t>
            </a:r>
            <a:r>
              <a:rPr sz="1250">
                <a:solidFill>
                  <a:srgbClr val="F1F5F9"/>
                </a:solidFill>
                <a:latin typeface="Helvetica Neue"/>
              </a:rPr>
              <a:t>flips so host detects new completions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45920"/>
            <a:ext cx="5257800" cy="3200400"/>
          </a:xfrm>
          <a:prstGeom prst="roundRect">
            <a:avLst>
              <a:gd name="adj" fmla="val 6000"/>
            </a:avLst>
          </a:prstGeom>
          <a:solidFill>
            <a:srgbClr val="151F2A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Helvetica Neue"/>
              </a:rPr>
              <a:t>QUEUE PAIR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2148840"/>
            <a:ext cx="2194560" cy="822960"/>
          </a:xfrm>
          <a:prstGeom prst="roundRect">
            <a:avLst>
              <a:gd name="adj" fmla="val 10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Submission Q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host → SSD (64 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148840"/>
            <a:ext cx="2194560" cy="822960"/>
          </a:xfrm>
          <a:prstGeom prst="roundRect">
            <a:avLst>
              <a:gd name="adj" fmla="val 10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Completion Q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SSD → host (16 B)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06840" y="2459736"/>
            <a:ext cx="274320" cy="201168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24612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Up to 64K queue pairs per the NVMe spec — one per CPU core for scaling.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16636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534009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523951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Per-core queue pairs are why NVMe scales to millions of IOPS where old AHCI/SATA had a single 32-deep queue.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4 · FRONT-END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4.3  Data Pointers: PRP vs SGL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12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801368"/>
            <a:ext cx="292608" cy="822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72821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PRP — Physical Region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258568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150" b="1">
                <a:solidFill>
                  <a:srgbClr val="F1F5F9"/>
                </a:solidFill>
                <a:latin typeface="Helvetica Neue"/>
              </a:rPr>
              <a:t>Two entries: </a:t>
            </a:r>
            <a:r>
              <a:rPr sz="1150">
                <a:solidFill>
                  <a:srgbClr val="F1F5F9"/>
                </a:solidFill>
                <a:latin typeface="Helvetica Neue"/>
              </a:rPr>
              <a:t>PRP1 + PRP2 in the command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150" b="1">
                <a:solidFill>
                  <a:srgbClr val="F1F5F9"/>
                </a:solidFill>
                <a:latin typeface="Helvetica Neue"/>
              </a:rPr>
              <a:t>Large transfers: </a:t>
            </a:r>
            <a:r>
              <a:rPr sz="1150">
                <a:solidFill>
                  <a:srgbClr val="F1F5F9"/>
                </a:solidFill>
                <a:latin typeface="Helvetica Neue"/>
              </a:rPr>
              <a:t>PRP2 → a PRP List the FE walks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150" b="1">
                <a:solidFill>
                  <a:srgbClr val="F1F5F9"/>
                </a:solidFill>
                <a:latin typeface="Helvetica Neue"/>
              </a:rPr>
              <a:t>Constraint: </a:t>
            </a:r>
            <a:r>
              <a:rPr sz="1150">
                <a:solidFill>
                  <a:srgbClr val="F1F5F9"/>
                </a:solidFill>
                <a:latin typeface="Helvetica Neue"/>
              </a:rPr>
              <a:t>page-aligned segments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150" b="1">
                <a:solidFill>
                  <a:srgbClr val="F1F5F9"/>
                </a:solidFill>
                <a:latin typeface="Helvetica Neue"/>
              </a:rPr>
              <a:t>Use: </a:t>
            </a:r>
            <a:r>
              <a:rPr sz="1150">
                <a:solidFill>
                  <a:srgbClr val="F1F5F9"/>
                </a:solidFill>
                <a:latin typeface="Helvetica Neue"/>
              </a:rPr>
              <a:t>standard NVMe I/O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0020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11112" y="1801368"/>
            <a:ext cx="292608" cy="82296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59" y="172821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SGL — Scatter-Gather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2258568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2C55E"/>
                </a:solidFill>
                <a:latin typeface="Helvetica Neue"/>
              </a:rPr>
              <a:t>▸  </a:t>
            </a:r>
            <a:r>
              <a:rPr sz="1150" b="1">
                <a:solidFill>
                  <a:srgbClr val="F1F5F9"/>
                </a:solidFill>
                <a:latin typeface="Helvetica Neue"/>
              </a:rPr>
              <a:t>Descriptors: </a:t>
            </a:r>
            <a:r>
              <a:rPr sz="1150">
                <a:solidFill>
                  <a:srgbClr val="F1F5F9"/>
                </a:solidFill>
                <a:latin typeface="Helvetica Neue"/>
              </a:rPr>
              <a:t>Data Block / Segment / Last Segment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2C55E"/>
                </a:solidFill>
                <a:latin typeface="Helvetica Neue"/>
              </a:rPr>
              <a:t>▸  </a:t>
            </a:r>
            <a:r>
              <a:rPr sz="1150" b="1">
                <a:solidFill>
                  <a:srgbClr val="F1F5F9"/>
                </a:solidFill>
                <a:latin typeface="Helvetica Neue"/>
              </a:rPr>
              <a:t>Flexible: </a:t>
            </a:r>
            <a:r>
              <a:rPr sz="1150">
                <a:solidFill>
                  <a:srgbClr val="F1F5F9"/>
                </a:solidFill>
                <a:latin typeface="Helvetica Neue"/>
              </a:rPr>
              <a:t>arbitrary byte-aligned segments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2C55E"/>
                </a:solidFill>
                <a:latin typeface="Helvetica Neue"/>
              </a:rPr>
              <a:t>▸  </a:t>
            </a:r>
            <a:r>
              <a:rPr sz="1150" b="1">
                <a:solidFill>
                  <a:srgbClr val="F1F5F9"/>
                </a:solidFill>
                <a:latin typeface="Helvetica Neue"/>
              </a:rPr>
              <a:t>Use: </a:t>
            </a:r>
            <a:r>
              <a:rPr sz="1150">
                <a:solidFill>
                  <a:srgbClr val="F1F5F9"/>
                </a:solidFill>
                <a:latin typeface="Helvetica Neue"/>
              </a:rPr>
              <a:t>NVMe-oF &amp; advanced hosts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31920"/>
            <a:ext cx="10972800" cy="123444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23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Helvetica Neue"/>
              </a:rPr>
              <a:t>PRP LIST WALK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343400"/>
            <a:ext cx="1783080" cy="594360"/>
          </a:xfrm>
          <a:prstGeom prst="roundRect">
            <a:avLst>
              <a:gd name="adj" fmla="val 10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PRP1: 0x1000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Helvetica Neue"/>
              </a:rPr>
              <a:t>page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4343400"/>
            <a:ext cx="1874519" cy="594360"/>
          </a:xfrm>
          <a:prstGeom prst="roundRect">
            <a:avLst>
              <a:gd name="adj" fmla="val 10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PRP2 → List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Helvetica Neue"/>
              </a:rPr>
              <a:t>@ 0x5000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29200" y="4535424"/>
            <a:ext cx="320040" cy="201168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0" y="4343400"/>
            <a:ext cx="1417320" cy="594360"/>
          </a:xfrm>
          <a:prstGeom prst="roundRect">
            <a:avLst>
              <a:gd name="adj" fmla="val 10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0x3000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Helvetica Neue"/>
              </a:rPr>
              <a:t>page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22592" y="4343400"/>
            <a:ext cx="1417320" cy="594360"/>
          </a:xfrm>
          <a:prstGeom prst="roundRect">
            <a:avLst>
              <a:gd name="adj" fmla="val 10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0x7000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Helvetica Neue"/>
              </a:rPr>
              <a:t>page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58784" y="4343400"/>
            <a:ext cx="1417320" cy="594360"/>
          </a:xfrm>
          <a:prstGeom prst="roundRect">
            <a:avLst>
              <a:gd name="adj" fmla="val 10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0x9000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Helvetica Neue"/>
              </a:rPr>
              <a:t>page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94976" y="4343400"/>
            <a:ext cx="1417320" cy="594360"/>
          </a:xfrm>
          <a:prstGeom prst="roundRect">
            <a:avLst>
              <a:gd name="adj" fmla="val 10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0xB000</a:t>
            </a:r>
          </a:p>
          <a:p>
            <a:pPr algn="ctr"/>
            <a:r>
              <a:rPr sz="900">
                <a:solidFill>
                  <a:srgbClr val="94A3B8"/>
                </a:solidFill>
                <a:latin typeface="Helvetica Neue"/>
              </a:rPr>
              <a:t>page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34924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552297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" y="542239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NVMe-over-Fabrics relies on SGLs because RDMA transfers rarely land on neat 4 KB page boundaries.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4 · FRONT-END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4.4  Interrupts: Pin → MSI → MSI-X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13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2194560" cy="548640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2029968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50" b="1">
                <a:solidFill>
                  <a:srgbClr val="F1F5F9"/>
                </a:solidFill>
                <a:latin typeface="Helvetica Neue"/>
              </a:rPr>
              <a:t>Scheme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645920"/>
            <a:ext cx="2194560" cy="548640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645920"/>
            <a:ext cx="2029968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50" b="1">
                <a:solidFill>
                  <a:srgbClr val="F1F5F9"/>
                </a:solidFill>
                <a:latin typeface="Helvetica Neue"/>
              </a:rPr>
              <a:t>Vectors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1645920"/>
            <a:ext cx="6583679" cy="548640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645920"/>
            <a:ext cx="6419088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50" b="1">
                <a:solidFill>
                  <a:srgbClr val="F1F5F9"/>
                </a:solidFill>
                <a:latin typeface="Helvetica Neue"/>
              </a:rPr>
              <a:t>How it 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194560"/>
            <a:ext cx="2194560" cy="54864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94560"/>
            <a:ext cx="2029968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Helvetica Neue"/>
              </a:rPr>
              <a:t>Pin-based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2194560"/>
            <a:ext cx="2194560" cy="54864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2194560"/>
            <a:ext cx="2029968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Helvetica Neue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60" y="2194560"/>
            <a:ext cx="6583679" cy="54864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2194560"/>
            <a:ext cx="6419088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Helvetica Neue"/>
              </a:rPr>
              <a:t>Sets a shared line / pending bit (legacy)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3200"/>
            <a:ext cx="2194560" cy="548640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743200"/>
            <a:ext cx="2029968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Helvetica Neue"/>
              </a:rPr>
              <a:t>MSI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2743200"/>
            <a:ext cx="2194560" cy="548640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2743200"/>
            <a:ext cx="2029968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Helvetica Neue"/>
              </a:rPr>
              <a:t>up to 32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2743200"/>
            <a:ext cx="6583679" cy="548640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2743200"/>
            <a:ext cx="6419088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Helvetica Neue"/>
              </a:rPr>
              <a:t>Controller writes to a host memory address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91840"/>
            <a:ext cx="2194560" cy="54864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291840"/>
            <a:ext cx="2029968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50" b="0">
                <a:solidFill>
                  <a:srgbClr val="F1F5F9"/>
                </a:solidFill>
                <a:latin typeface="Helvetica Neue"/>
              </a:rPr>
              <a:t>MSI-X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3291840"/>
            <a:ext cx="2194560" cy="54864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3291840"/>
            <a:ext cx="2029968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Helvetica Neue"/>
              </a:rPr>
              <a:t>up to 2048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66360" y="3291840"/>
            <a:ext cx="6583679" cy="54864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291840"/>
            <a:ext cx="6419088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Helvetica Neue"/>
              </a:rPr>
              <a:t>Per-CQ vector + address/data pair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16052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Why MSI-X matters</a:t>
            </a:r>
          </a:p>
          <a:p>
            <a:pPr algn="ctr"/>
            <a:r>
              <a:rPr sz="1250">
                <a:solidFill>
                  <a:srgbClr val="94A3B8"/>
                </a:solidFill>
                <a:latin typeface="Helvetica Neue"/>
              </a:rPr>
              <a:t>Each Completion Queue gets its own vector, so completions steer to a specific CPU core — keeping cache-hot data local (NUMA locality).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34924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0120" y="552297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1288" y="542239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A 64-core database server maps one CQ + MSI-X vector per core, so each core handles only its own I/O.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0" b="1">
                <a:solidFill>
                  <a:srgbClr val="974CDE"/>
                </a:solidFill>
                <a:latin typeface="Helvetica Neue"/>
              </a:rPr>
              <a:t>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794760"/>
            <a:ext cx="1280160" cy="100584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1F5F9"/>
                </a:solidFill>
                <a:latin typeface="Helvetica Neue"/>
              </a:rPr>
              <a:t>Flash Translation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8463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94A3B8"/>
                </a:solidFill>
                <a:latin typeface="Helvetica Neue"/>
              </a:rPr>
              <a:t>The heart of the firmware: mapping, GC, wear, TRIM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14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5 · FTL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5.1  L2P Mapping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15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Helvetica Neue"/>
              </a:rPr>
              <a:t>L2P TABLE  (LPN → physical address)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084831"/>
            <a:ext cx="1371600" cy="420624"/>
          </a:xfrm>
          <a:prstGeom prst="roundRect">
            <a:avLst>
              <a:gd name="adj" fmla="val 12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LPN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215798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855F7"/>
                </a:solidFill>
                <a:latin typeface="Menlo"/>
              </a:rPr>
              <a:t>→ ch0 die0 blk100 pg5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596896"/>
            <a:ext cx="1371600" cy="420624"/>
          </a:xfrm>
          <a:prstGeom prst="roundRect">
            <a:avLst>
              <a:gd name="adj" fmla="val 12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LPN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2670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855F7"/>
                </a:solidFill>
                <a:latin typeface="Menlo"/>
              </a:rPr>
              <a:t>→ ch2 die1 blk200 pg12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108960"/>
            <a:ext cx="1371600" cy="420624"/>
          </a:xfrm>
          <a:prstGeom prst="roundRect">
            <a:avLst>
              <a:gd name="adj" fmla="val 12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LPN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318211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enlo"/>
              </a:rPr>
              <a:t>→ UNMAPPED (trimmed)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621024"/>
            <a:ext cx="1371600" cy="420624"/>
          </a:xfrm>
          <a:prstGeom prst="roundRect">
            <a:avLst>
              <a:gd name="adj" fmla="val 12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LPN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369417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855F7"/>
                </a:solidFill>
                <a:latin typeface="Menlo"/>
              </a:rPr>
              <a:t>→ ch1 die0 blk050 pg3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600200"/>
            <a:ext cx="5257800" cy="265176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56831" y="1801368"/>
            <a:ext cx="292608" cy="82296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79" y="17282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PPA packed into 4 bytes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258568"/>
            <a:ext cx="4800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A855F7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F1F5F9"/>
                </a:solidFill>
                <a:latin typeface="Helvetica Neue"/>
              </a:rPr>
              <a:t>[31:28] </a:t>
            </a:r>
            <a:r>
              <a:rPr sz="1250">
                <a:solidFill>
                  <a:srgbClr val="F1F5F9"/>
                </a:solidFill>
                <a:latin typeface="Helvetica Neue"/>
              </a:rPr>
              <a:t>Channel (16)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A855F7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F1F5F9"/>
                </a:solidFill>
                <a:latin typeface="Helvetica Neue"/>
              </a:rPr>
              <a:t>[27:26] </a:t>
            </a:r>
            <a:r>
              <a:rPr sz="1250">
                <a:solidFill>
                  <a:srgbClr val="F1F5F9"/>
                </a:solidFill>
                <a:latin typeface="Helvetica Neue"/>
              </a:rPr>
              <a:t>Die (4)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A855F7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F1F5F9"/>
                </a:solidFill>
                <a:latin typeface="Helvetica Neue"/>
              </a:rPr>
              <a:t>[25] </a:t>
            </a:r>
            <a:r>
              <a:rPr sz="1250">
                <a:solidFill>
                  <a:srgbClr val="F1F5F9"/>
                </a:solidFill>
                <a:latin typeface="Helvetica Neue"/>
              </a:rPr>
              <a:t>Plane (2)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A855F7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F1F5F9"/>
                </a:solidFill>
                <a:latin typeface="Helvetica Neue"/>
              </a:rPr>
              <a:t>[24:11] </a:t>
            </a:r>
            <a:r>
              <a:rPr sz="1250">
                <a:solidFill>
                  <a:srgbClr val="F1F5F9"/>
                </a:solidFill>
                <a:latin typeface="Helvetica Neue"/>
              </a:rPr>
              <a:t>Block (16K)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A855F7"/>
                </a:solidFill>
                <a:latin typeface="Helvetica Neue"/>
              </a:rPr>
              <a:t>▸  </a:t>
            </a:r>
            <a:r>
              <a:rPr sz="1250" b="1">
                <a:solidFill>
                  <a:srgbClr val="F1F5F9"/>
                </a:solidFill>
                <a:latin typeface="Helvetica Neue"/>
              </a:rPr>
              <a:t>[10:0] </a:t>
            </a:r>
            <a:r>
              <a:rPr sz="1250">
                <a:solidFill>
                  <a:srgbClr val="F1F5F9"/>
                </a:solidFill>
                <a:latin typeface="Helvetica Neue"/>
              </a:rPr>
              <a:t>Page (2K)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52628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470001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" y="459943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Every host write updates one L2P entry — this table is the single most accessed structure in the firmware.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5 · FTL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5.1  DRAM Sizing &amp; DRAM-less (HMB)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16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41017" cy="548640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576425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Helvetica Neue"/>
              </a:rPr>
              <a:t>Capacity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8257" y="1691640"/>
            <a:ext cx="1689811" cy="548640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9697" y="1691640"/>
            <a:ext cx="1525219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Helvetica Neue"/>
              </a:rPr>
              <a:t>Entries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8068" y="1691640"/>
            <a:ext cx="1689811" cy="548640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9508" y="1691640"/>
            <a:ext cx="1525219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Helvetica Neue"/>
              </a:rPr>
              <a:t>L2P DRAM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40280"/>
            <a:ext cx="1741017" cy="54864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40280"/>
            <a:ext cx="1576425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Helvetica Neue"/>
              </a:rPr>
              <a:t>256 GB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8257" y="2240280"/>
            <a:ext cx="1689811" cy="54864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9697" y="2240280"/>
            <a:ext cx="1525219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Helvetica Neue"/>
              </a:rPr>
              <a:t>64 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8068" y="2240280"/>
            <a:ext cx="1689811" cy="54864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9508" y="2240280"/>
            <a:ext cx="1525219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Helvetica Neue"/>
              </a:rPr>
              <a:t>256 MB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20"/>
            <a:ext cx="1741017" cy="548640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788920"/>
            <a:ext cx="1576425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Helvetica Neue"/>
              </a:rPr>
              <a:t>1 TB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8257" y="2788920"/>
            <a:ext cx="1689811" cy="548640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9697" y="2788920"/>
            <a:ext cx="1525219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Helvetica Neue"/>
              </a:rPr>
              <a:t>256 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8068" y="2788920"/>
            <a:ext cx="1689811" cy="548640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9508" y="2788920"/>
            <a:ext cx="1525219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Helvetica Neue"/>
              </a:rPr>
              <a:t>1 GB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337560"/>
            <a:ext cx="1741017" cy="54864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337560"/>
            <a:ext cx="1576425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Helvetica Neue"/>
              </a:rPr>
              <a:t>2 TB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8257" y="3337560"/>
            <a:ext cx="1689811" cy="54864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9697" y="3337560"/>
            <a:ext cx="1525219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Helvetica Neue"/>
              </a:rPr>
              <a:t>512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8068" y="3337560"/>
            <a:ext cx="1689811" cy="54864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9508" y="3337560"/>
            <a:ext cx="1525219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Helvetica Neue"/>
              </a:rPr>
              <a:t>2 GB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206240"/>
            <a:ext cx="5120640" cy="822960"/>
          </a:xfrm>
          <a:prstGeom prst="roundRect">
            <a:avLst>
              <a:gd name="adj" fmla="val 10000"/>
            </a:avLst>
          </a:prstGeom>
          <a:solidFill>
            <a:srgbClr val="32194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Rule of thumb</a:t>
            </a:r>
          </a:p>
          <a:p>
            <a:pPr algn="ctr"/>
            <a:r>
              <a:rPr sz="1200">
                <a:solidFill>
                  <a:srgbClr val="94A3B8"/>
                </a:solidFill>
                <a:latin typeface="Helvetica Neue"/>
              </a:rPr>
              <a:t>≈ 1 GB DRAM per 1 TB NAND (4 KB LBAs, 4-byte entries)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1691640"/>
            <a:ext cx="5577840" cy="333756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36792" y="1892808"/>
            <a:ext cx="292608" cy="822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18196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DRAM-less options (HMB)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2350008"/>
            <a:ext cx="512064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F1F5F9"/>
                </a:solidFill>
                <a:latin typeface="Helvetica Neue"/>
              </a:rPr>
              <a:t>HMB: </a:t>
            </a:r>
            <a:r>
              <a:rPr sz="1300">
                <a:solidFill>
                  <a:srgbClr val="F1F5F9"/>
                </a:solidFill>
                <a:latin typeface="Helvetica Neue"/>
              </a:rPr>
              <a:t>borrow 32–64 MB of host DRAM for warm L2P entries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F1F5F9"/>
                </a:solidFill>
                <a:latin typeface="Helvetica Neue"/>
              </a:rPr>
              <a:t>On-SRAM cache: </a:t>
            </a:r>
            <a:r>
              <a:rPr sz="1300">
                <a:solidFill>
                  <a:srgbClr val="F1F5F9"/>
                </a:solidFill>
                <a:latin typeface="Helvetica Neue"/>
              </a:rPr>
              <a:t>small hot L2P cache in controller SRAM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F1F5F9"/>
                </a:solidFill>
                <a:latin typeface="Helvetica Neue"/>
              </a:rPr>
              <a:t>NAND-backed: </a:t>
            </a:r>
            <a:r>
              <a:rPr sz="1300">
                <a:solidFill>
                  <a:srgbClr val="F1F5F9"/>
                </a:solidFill>
                <a:latin typeface="Helvetica Neue"/>
              </a:rPr>
              <a:t>full table in NAND, paged in on miss (adds latency)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25780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0120" y="543153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1288" y="533095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The Steam Deck's M.2 2230 SSD is DRAM-less and leans on HMB to keep cost, size, and power down.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5 · FTL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5.2  Garbage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17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Helvetica Neue"/>
              </a:rPr>
              <a:t>VICTIM BLOCK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603504" cy="548640"/>
          </a:xfrm>
          <a:prstGeom prst="roundRect">
            <a:avLst>
              <a:gd name="adj" fmla="val 15000"/>
            </a:avLst>
          </a:prstGeom>
          <a:solidFill>
            <a:srgbClr val="11622F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5607" y="1645920"/>
            <a:ext cx="603504" cy="548640"/>
          </a:xfrm>
          <a:prstGeom prst="roundRect">
            <a:avLst>
              <a:gd name="adj" fmla="val 15000"/>
            </a:avLst>
          </a:prstGeom>
          <a:solidFill>
            <a:srgbClr val="24334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93976" y="1645920"/>
            <a:ext cx="603504" cy="548640"/>
          </a:xfrm>
          <a:prstGeom prst="roundRect">
            <a:avLst>
              <a:gd name="adj" fmla="val 15000"/>
            </a:avLst>
          </a:prstGeom>
          <a:solidFill>
            <a:srgbClr val="11622F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52344" y="1645920"/>
            <a:ext cx="603504" cy="548640"/>
          </a:xfrm>
          <a:prstGeom prst="roundRect">
            <a:avLst>
              <a:gd name="adj" fmla="val 15000"/>
            </a:avLst>
          </a:prstGeom>
          <a:solidFill>
            <a:srgbClr val="24334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645920"/>
            <a:ext cx="603504" cy="548640"/>
          </a:xfrm>
          <a:prstGeom prst="roundRect">
            <a:avLst>
              <a:gd name="adj" fmla="val 15000"/>
            </a:avLst>
          </a:prstGeom>
          <a:solidFill>
            <a:srgbClr val="24334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79" y="1645920"/>
            <a:ext cx="603504" cy="548640"/>
          </a:xfrm>
          <a:prstGeom prst="roundRect">
            <a:avLst>
              <a:gd name="adj" fmla="val 15000"/>
            </a:avLst>
          </a:prstGeom>
          <a:solidFill>
            <a:srgbClr val="11622F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7448" y="1645920"/>
            <a:ext cx="603504" cy="548640"/>
          </a:xfrm>
          <a:prstGeom prst="roundRect">
            <a:avLst>
              <a:gd name="adj" fmla="val 15000"/>
            </a:avLst>
          </a:prstGeom>
          <a:solidFill>
            <a:srgbClr val="24334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85816" y="1645920"/>
            <a:ext cx="603504" cy="548640"/>
          </a:xfrm>
          <a:prstGeom prst="roundRect">
            <a:avLst>
              <a:gd name="adj" fmla="val 15000"/>
            </a:avLst>
          </a:prstGeom>
          <a:solidFill>
            <a:srgbClr val="11622F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2860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V = valid   I = invalid (stale)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743200"/>
            <a:ext cx="2606040" cy="868680"/>
          </a:xfrm>
          <a:prstGeom prst="roundRect">
            <a:avLst>
              <a:gd name="adj" fmla="val 12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50" b="1">
                <a:solidFill>
                  <a:srgbClr val="F1F5F9"/>
                </a:solidFill>
                <a:latin typeface="Helvetica Neue"/>
              </a:rPr>
              <a:t>1  Read valid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pages 0,2,5,7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429000" y="3072384"/>
            <a:ext cx="237744" cy="201168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39312" y="2743200"/>
            <a:ext cx="2606040" cy="868680"/>
          </a:xfrm>
          <a:prstGeom prst="roundRect">
            <a:avLst>
              <a:gd name="adj" fmla="val 12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50" b="1">
                <a:solidFill>
                  <a:srgbClr val="F1F5F9"/>
                </a:solidFill>
                <a:latin typeface="Helvetica Neue"/>
              </a:rPr>
              <a:t>2  Write to fresh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new dest block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291072" y="3072384"/>
            <a:ext cx="237744" cy="201168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01383" y="2743200"/>
            <a:ext cx="2606040" cy="868680"/>
          </a:xfrm>
          <a:prstGeom prst="roundRect">
            <a:avLst>
              <a:gd name="adj" fmla="val 12000"/>
            </a:avLst>
          </a:prstGeom>
          <a:solidFill>
            <a:srgbClr val="43226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50" b="1">
                <a:solidFill>
                  <a:srgbClr val="F1F5F9"/>
                </a:solidFill>
                <a:latin typeface="Helvetica Neue"/>
              </a:rPr>
              <a:t>3  Update L2P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remap moved pages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153144" y="3072384"/>
            <a:ext cx="237744" cy="201168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63456" y="2743200"/>
            <a:ext cx="2606040" cy="868680"/>
          </a:xfrm>
          <a:prstGeom prst="roundRect">
            <a:avLst>
              <a:gd name="adj" fmla="val 12000"/>
            </a:avLst>
          </a:prstGeom>
          <a:solidFill>
            <a:srgbClr val="12544C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50" b="1">
                <a:solidFill>
                  <a:srgbClr val="F1F5F9"/>
                </a:solidFill>
                <a:latin typeface="Helvetica Neue"/>
              </a:rPr>
              <a:t>4  Erase victim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→ free pool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88620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Write Amplification (WAF)</a:t>
            </a:r>
          </a:p>
          <a:p>
            <a:pPr algn="ctr"/>
            <a:r>
              <a:rPr sz="1150">
                <a:solidFill>
                  <a:srgbClr val="94A3B8"/>
                </a:solidFill>
                <a:latin typeface="Helvetica Neue"/>
              </a:rPr>
              <a:t>WAF = NAND writes ÷ host writes. Ideal 1.0; sequential ≈1.0; random ≥3.0; low OP can spiral to 10×.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88620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Victim selection</a:t>
            </a:r>
          </a:p>
          <a:p>
            <a:pPr algn="ctr"/>
            <a:r>
              <a:rPr sz="1150">
                <a:solidFill>
                  <a:srgbClr val="94A3B8"/>
                </a:solidFill>
                <a:latin typeface="Helvetica Neue"/>
              </a:rPr>
              <a:t>Greedy (most invalid) • Cost-Benefit (age × invalidity) • d-Choices (sample d, pick best).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07492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" y="524865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514807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A random-write OLTP database can push WAF to 4–5×, so enterprise drives add 28% over-provisioning.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5 · FTL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5.3  Wear Leveling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18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847088"/>
            <a:ext cx="292608" cy="822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7739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Two flavors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304288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F1F5F9"/>
                </a:solidFill>
                <a:latin typeface="Helvetica Neue"/>
              </a:rPr>
              <a:t>Dynamic: </a:t>
            </a:r>
            <a:r>
              <a:rPr sz="1300">
                <a:solidFill>
                  <a:srgbClr val="F1F5F9"/>
                </a:solidFill>
                <a:latin typeface="Helvetica Neue"/>
              </a:rPr>
              <a:t>GC returns erased blocks to the pool; writes go to least-worn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F1F5F9"/>
                </a:solidFill>
                <a:latin typeface="Helvetica Neue"/>
              </a:rPr>
              <a:t>Static: </a:t>
            </a:r>
            <a:r>
              <a:rPr sz="1300">
                <a:solidFill>
                  <a:srgbClr val="F1F5F9"/>
                </a:solidFill>
                <a:latin typeface="Helvetica Neue"/>
              </a:rPr>
              <a:t>proactively move cold data off low-wear blocks so they can be reused too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45920"/>
            <a:ext cx="5257800" cy="3246120"/>
          </a:xfrm>
          <a:prstGeom prst="roundRect">
            <a:avLst>
              <a:gd name="adj" fmla="val 6000"/>
            </a:avLst>
          </a:prstGeom>
          <a:solidFill>
            <a:srgbClr val="151F2A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Helvetica Neue"/>
              </a:rPr>
              <a:t>P/E CYCLES ACROSS 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057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F4444"/>
                </a:solidFill>
                <a:latin typeface="Helvetica Neue"/>
              </a:rPr>
              <a:t>Without WL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194560"/>
            <a:ext cx="201168" cy="1371600"/>
          </a:xfrm>
          <a:prstGeom prst="rect">
            <a:avLst/>
          </a:prstGeom>
          <a:solidFill>
            <a:srgbClr val="A7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200400"/>
            <a:ext cx="201168" cy="365760"/>
          </a:xfrm>
          <a:prstGeom prst="rect">
            <a:avLst/>
          </a:prstGeom>
          <a:solidFill>
            <a:srgbClr val="A7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2743200"/>
            <a:ext cx="201168" cy="822960"/>
          </a:xfrm>
          <a:prstGeom prst="rect">
            <a:avLst/>
          </a:prstGeom>
          <a:solidFill>
            <a:srgbClr val="A7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3291840"/>
            <a:ext cx="201168" cy="274320"/>
          </a:xfrm>
          <a:prstGeom prst="rect">
            <a:avLst/>
          </a:prstGeom>
          <a:solidFill>
            <a:srgbClr val="A7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2331720"/>
            <a:ext cx="201168" cy="1234440"/>
          </a:xfrm>
          <a:prstGeom prst="rect">
            <a:avLst/>
          </a:prstGeom>
          <a:solidFill>
            <a:srgbClr val="A7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3063239"/>
            <a:ext cx="201168" cy="502920"/>
          </a:xfrm>
          <a:prstGeom prst="rect">
            <a:avLst/>
          </a:prstGeom>
          <a:solidFill>
            <a:srgbClr val="A7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2560320"/>
            <a:ext cx="201168" cy="1005840"/>
          </a:xfrm>
          <a:prstGeom prst="rect">
            <a:avLst/>
          </a:prstGeom>
          <a:solidFill>
            <a:srgbClr val="A7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3108960"/>
            <a:ext cx="201168" cy="457200"/>
          </a:xfrm>
          <a:prstGeom prst="rect">
            <a:avLst/>
          </a:prstGeom>
          <a:solidFill>
            <a:srgbClr val="A7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057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Helvetica Neue"/>
              </a:rPr>
              <a:t>With WL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2788920"/>
            <a:ext cx="201168" cy="777240"/>
          </a:xfrm>
          <a:prstGeom prst="rect">
            <a:avLst/>
          </a:prstGeom>
          <a:solidFill>
            <a:srgbClr val="178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5480" y="2788920"/>
            <a:ext cx="201168" cy="777240"/>
          </a:xfrm>
          <a:prstGeom prst="rect">
            <a:avLst/>
          </a:prstGeom>
          <a:solidFill>
            <a:srgbClr val="178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29800" y="2788920"/>
            <a:ext cx="201168" cy="777240"/>
          </a:xfrm>
          <a:prstGeom prst="rect">
            <a:avLst/>
          </a:prstGeom>
          <a:solidFill>
            <a:srgbClr val="178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04120" y="2788920"/>
            <a:ext cx="201168" cy="777240"/>
          </a:xfrm>
          <a:prstGeom prst="rect">
            <a:avLst/>
          </a:prstGeom>
          <a:solidFill>
            <a:srgbClr val="178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78440" y="2788920"/>
            <a:ext cx="201168" cy="777240"/>
          </a:xfrm>
          <a:prstGeom prst="rect">
            <a:avLst/>
          </a:prstGeom>
          <a:solidFill>
            <a:srgbClr val="178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52760" y="2788920"/>
            <a:ext cx="201168" cy="777240"/>
          </a:xfrm>
          <a:prstGeom prst="rect">
            <a:avLst/>
          </a:prstGeom>
          <a:solidFill>
            <a:srgbClr val="178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27080" y="2788920"/>
            <a:ext cx="201168" cy="777240"/>
          </a:xfrm>
          <a:prstGeom prst="rect">
            <a:avLst/>
          </a:prstGeom>
          <a:solidFill>
            <a:srgbClr val="178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201400" y="2788920"/>
            <a:ext cx="201168" cy="777240"/>
          </a:xfrm>
          <a:prstGeom prst="rect">
            <a:avLst/>
          </a:prstGeom>
          <a:solidFill>
            <a:srgbClr val="178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7033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Helvetica Neue"/>
              </a:rPr>
              <a:t>uneven → early failure        even → max lifetime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886200"/>
            <a:ext cx="5486400" cy="1005840"/>
          </a:xfrm>
          <a:prstGeom prst="roundRect">
            <a:avLst>
              <a:gd name="adj" fmla="val 10000"/>
            </a:avLst>
          </a:prstGeom>
          <a:solidFill>
            <a:srgbClr val="112749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1F5F9"/>
                </a:solidFill>
                <a:latin typeface="Helvetica Neue"/>
              </a:rPr>
              <a:t>Goal</a:t>
            </a:r>
          </a:p>
          <a:p>
            <a:pPr algn="ctr"/>
            <a:r>
              <a:rPr sz="1200">
                <a:solidFill>
                  <a:srgbClr val="94A3B8"/>
                </a:solidFill>
                <a:latin typeface="Helvetica Neue"/>
              </a:rPr>
              <a:t>Every block reaches end-of-life at roughly the same time — no weak block fails early.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12064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120" y="529437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1288" y="519379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Without static WL, rarely-touched OS files would 'pin' fresh blocks while hot logs burn out a few in months.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5 · FTL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5.4  Bad-Block Management (BBM)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19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623F04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Factory bad blocks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92808"/>
            <a:ext cx="7406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94A3B8"/>
                </a:solidFill>
                <a:latin typeface="Helvetica Neue"/>
              </a:rPr>
              <a:t>marked at manufacture, stored in the Bad Block Table (BBT)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3464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5F1B1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Grown bad blocks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035808"/>
            <a:ext cx="7406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94A3B8"/>
                </a:solidFill>
                <a:latin typeface="Helvetica Neue"/>
              </a:rPr>
              <a:t>fail erase/program at runtime, or hit uncorrectable ECC on 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977639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178807"/>
            <a:ext cx="7406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94A3B8"/>
                </a:solidFill>
                <a:latin typeface="Helvetica Neue"/>
              </a:rPr>
              <a:t>relocate valid data, map out the block, update the BBT in reserved NAND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25780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543153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533095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NAND ships with some factory-bad blocks from day one — the BBT is built during the very first firmware boot.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5 · FTL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5.5–5.6  TRIM &amp; Over-Provisioning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20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Helvetica Neue"/>
              </a:rPr>
              <a:t>TRIM / UNMAP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64208"/>
            <a:ext cx="2606040" cy="868680"/>
          </a:xfrm>
          <a:prstGeom prst="roundRect">
            <a:avLst>
              <a:gd name="adj" fmla="val 12000"/>
            </a:avLst>
          </a:prstGeom>
          <a:solidFill>
            <a:srgbClr val="3B414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Host deletes file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FS issues TRIM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29000" y="2002536"/>
            <a:ext cx="237744" cy="201168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39312" y="1664208"/>
            <a:ext cx="2606040" cy="868680"/>
          </a:xfrm>
          <a:prstGeom prst="roundRect">
            <a:avLst>
              <a:gd name="adj" fmla="val 12000"/>
            </a:avLst>
          </a:prstGeom>
          <a:solidFill>
            <a:srgbClr val="43226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FTL marks UNMAPPED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L2P cleared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291072" y="2002536"/>
            <a:ext cx="237744" cy="201168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01383" y="1664208"/>
            <a:ext cx="2606040" cy="868680"/>
          </a:xfrm>
          <a:prstGeom prst="roundRect">
            <a:avLst>
              <a:gd name="adj" fmla="val 12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Pages → INVALID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GC skips copying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53144" y="2002536"/>
            <a:ext cx="237744" cy="201168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63456" y="1664208"/>
            <a:ext cx="2606040" cy="868680"/>
          </a:xfrm>
          <a:prstGeom prst="roundRect">
            <a:avLst>
              <a:gd name="adj" fmla="val 12000"/>
            </a:avLst>
          </a:prstGeom>
          <a:solidFill>
            <a:srgbClr val="12544C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Read returns zeros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no NAND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80360"/>
            <a:ext cx="5394960" cy="173736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Over-Provisioning (OP)</a:t>
            </a:r>
          </a:p>
          <a:p>
            <a:pPr algn="ctr"/>
            <a:r>
              <a:rPr sz="1250">
                <a:solidFill>
                  <a:srgbClr val="94A3B8"/>
                </a:solidFill>
                <a:latin typeface="Helvetica Neue"/>
              </a:rPr>
              <a:t>Spare NAND beyond the advertised capacity (7% consumer, up to 28% enterprise). More OP → fewer valid-page copies per reclaimed block → lower WAF and steadier performance.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88036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151F2A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971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Helvetica Neue"/>
              </a:rPr>
              <a:t>CAPACITY SPLIT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383280"/>
            <a:ext cx="3840480" cy="594360"/>
          </a:xfrm>
          <a:prstGeom prst="roundRect">
            <a:avLst>
              <a:gd name="adj" fmla="val 15000"/>
            </a:avLst>
          </a:prstGeom>
          <a:solidFill>
            <a:srgbClr val="204787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50215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1F5F9"/>
                </a:solidFill>
                <a:latin typeface="Helvetica Neue"/>
              </a:rPr>
              <a:t>User capacity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0" y="3383280"/>
            <a:ext cx="1097280" cy="594360"/>
          </a:xfrm>
          <a:prstGeom prst="roundRect">
            <a:avLst>
              <a:gd name="adj" fmla="val 20000"/>
            </a:avLst>
          </a:prstGeom>
          <a:solidFill>
            <a:srgbClr val="7A4F0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350215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1F5F9"/>
                </a:solidFill>
                <a:latin typeface="Helvetica Neue"/>
              </a:rPr>
              <a:t>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148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More OP shrinks user space but boosts endurance &amp; QoS.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12064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" y="529437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519379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Enabling TRIM (Windows &amp; Linux do it automatically) is the biggest 'free' way to keep an SSD fast over 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0" b="1">
                <a:solidFill>
                  <a:srgbClr val="1EB154"/>
                </a:solidFill>
                <a:latin typeface="Helvetica Neue"/>
              </a:rPr>
              <a:t>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794760"/>
            <a:ext cx="1280160" cy="10058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1F5F9"/>
                </a:solidFill>
                <a:latin typeface="Helvetica Neue"/>
              </a:rPr>
              <a:t>Back-End (BE)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8463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94A3B8"/>
                </a:solidFill>
                <a:latin typeface="Helvetica Neue"/>
              </a:rPr>
              <a:t>Talking to the silicon: parallelism, ECC, retries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21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6 · BACK-END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6.1  Four Levels of NAND Parallelism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22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2606040" cy="1645920"/>
          </a:xfrm>
          <a:prstGeom prst="roundRect">
            <a:avLst>
              <a:gd name="adj" fmla="val 8000"/>
            </a:avLst>
          </a:prstGeom>
          <a:solidFill>
            <a:srgbClr val="1B2735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1F5F9"/>
                </a:solidFill>
                <a:latin typeface="Helvetica Neue"/>
              </a:rPr>
              <a:t>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2140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independent buses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578608"/>
            <a:ext cx="457200" cy="7315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157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Helvetica Neue"/>
              </a:rPr>
              <a:t>N× bandwidth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600200"/>
            <a:ext cx="2606040" cy="1645920"/>
          </a:xfrm>
          <a:prstGeom prst="roundRect">
            <a:avLst>
              <a:gd name="adj" fmla="val 8000"/>
            </a:avLst>
          </a:prstGeom>
          <a:solidFill>
            <a:srgbClr val="1B2735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37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1F5F9"/>
                </a:solidFill>
                <a:latin typeface="Helvetica Neue"/>
              </a:rPr>
              <a:t>Die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12140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interleave on a channel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2578608"/>
            <a:ext cx="457200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27157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B82F6"/>
                </a:solidFill>
                <a:latin typeface="Helvetica Neue"/>
              </a:rPr>
              <a:t>hide tPROG/tBERS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1600200"/>
            <a:ext cx="2606040" cy="1645920"/>
          </a:xfrm>
          <a:prstGeom prst="roundRect">
            <a:avLst>
              <a:gd name="adj" fmla="val 8000"/>
            </a:avLst>
          </a:prstGeom>
          <a:solidFill>
            <a:srgbClr val="1B2735"/>
          </a:solidFill>
          <a:ln w="1524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1737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1F5F9"/>
                </a:solidFill>
                <a:latin typeface="Helvetica Neue"/>
              </a:rPr>
              <a:t>Plane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12140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multi-plane op per die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79" y="2578608"/>
            <a:ext cx="457200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27157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A855F7"/>
                </a:solidFill>
                <a:latin typeface="Helvetica Neue"/>
              </a:rPr>
              <a:t>~2× per die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3999" y="1600200"/>
            <a:ext cx="2606040" cy="1645920"/>
          </a:xfrm>
          <a:prstGeom prst="roundRect">
            <a:avLst>
              <a:gd name="adj" fmla="val 8000"/>
            </a:avLst>
          </a:prstGeom>
          <a:solidFill>
            <a:srgbClr val="1B2735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599" y="1737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1F5F9"/>
                </a:solidFill>
                <a:latin typeface="Helvetica Neue"/>
              </a:rPr>
              <a:t>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212140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multi-page read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599" y="2578608"/>
            <a:ext cx="457200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599" y="27157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Helvetica Neue"/>
              </a:rPr>
              <a:t>~2× read BW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56616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657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Helvetica Neue"/>
              </a:rPr>
              <a:t>OVERLAPPED SCHEDULING (2 channels)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069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enlo"/>
              </a:rPr>
              <a:t>CH0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00200" y="4023360"/>
            <a:ext cx="3063240" cy="365760"/>
          </a:xfrm>
          <a:prstGeom prst="roundRect">
            <a:avLst>
              <a:gd name="adj" fmla="val 10000"/>
            </a:avLst>
          </a:prstGeom>
          <a:solidFill>
            <a:srgbClr val="11622F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PROG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4023360"/>
            <a:ext cx="3063240" cy="365760"/>
          </a:xfrm>
          <a:prstGeom prst="roundRect">
            <a:avLst>
              <a:gd name="adj" fmla="val 10000"/>
            </a:avLst>
          </a:prstGeom>
          <a:solidFill>
            <a:srgbClr val="1D417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READ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4023360"/>
            <a:ext cx="3063240" cy="365760"/>
          </a:xfrm>
          <a:prstGeom prst="roundRect">
            <a:avLst>
              <a:gd name="adj" fmla="val 10000"/>
            </a:avLst>
          </a:prstGeom>
          <a:solidFill>
            <a:srgbClr val="4A515C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wait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0799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enlo"/>
              </a:rPr>
              <a:t>CH1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00200" y="4462272"/>
            <a:ext cx="3063240" cy="365760"/>
          </a:xfrm>
          <a:prstGeom prst="roundRect">
            <a:avLst>
              <a:gd name="adj" fmla="val 10000"/>
            </a:avLst>
          </a:prstGeom>
          <a:solidFill>
            <a:srgbClr val="1D417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READ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00600" y="4462272"/>
            <a:ext cx="3063240" cy="365760"/>
          </a:xfrm>
          <a:prstGeom prst="roundRect">
            <a:avLst>
              <a:gd name="adj" fmla="val 10000"/>
            </a:avLst>
          </a:prstGeom>
          <a:solidFill>
            <a:srgbClr val="7A4F0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ERASE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4462272"/>
            <a:ext cx="3063240" cy="365760"/>
          </a:xfrm>
          <a:prstGeom prst="roundRect">
            <a:avLst>
              <a:gd name="adj" fmla="val 10000"/>
            </a:avLst>
          </a:prstGeom>
          <a:solidFill>
            <a:srgbClr val="4A515C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wait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21208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0120" y="538581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61288" y="528523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A 'super-block' spanning every channel/die/plane is the write unit that streams one big write at full speed.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6 · BACK-END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6.2  ECC (LDPC)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23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0B442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50" b="1">
                <a:solidFill>
                  <a:srgbClr val="F1F5F9"/>
                </a:solidFill>
                <a:latin typeface="Helvetica Neue"/>
              </a:rPr>
              <a:t>WRITE (encode):  Data 4 KB → LDPC Encoder (HW) → Data + Parity → NAND program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3A1D56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50" b="1">
                <a:solidFill>
                  <a:srgbClr val="F1F5F9"/>
                </a:solidFill>
                <a:latin typeface="Helvetica Neue"/>
              </a:rPr>
              <a:t>READ (decode):  NAND → Raw + Parity → LDPC Decoder (HW) → Corrected data  (5–50 iterations)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383280"/>
            <a:ext cx="2414016" cy="502920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2249424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Helvetica Neue"/>
              </a:rPr>
              <a:t>Decode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1256" y="3383280"/>
            <a:ext cx="3511296" cy="502920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82696" y="3383280"/>
            <a:ext cx="3346703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Helvetica Neue"/>
              </a:rPr>
              <a:t>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02552" y="3383280"/>
            <a:ext cx="2852928" cy="502920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3383280"/>
            <a:ext cx="2688336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Helvetica Neue"/>
              </a:rPr>
              <a:t>Strength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5480" y="3383280"/>
            <a:ext cx="2194560" cy="502920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19" y="3383280"/>
            <a:ext cx="2029968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Helvetica Neue"/>
              </a:rPr>
              <a:t>Latency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886200"/>
            <a:ext cx="2414016" cy="50292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86200"/>
            <a:ext cx="2249424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Helvetica Neue"/>
              </a:rPr>
              <a:t>Hard-decision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91256" y="3886200"/>
            <a:ext cx="3511296" cy="50292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82696" y="3886200"/>
            <a:ext cx="3346703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binary 0/1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02552" y="3886200"/>
            <a:ext cx="2852928" cy="50292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3886200"/>
            <a:ext cx="2688336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~40–60 bits/KB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3886200"/>
            <a:ext cx="2194560" cy="50292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19" y="3886200"/>
            <a:ext cx="2029968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~1 µs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389120"/>
            <a:ext cx="2414016" cy="502920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389120"/>
            <a:ext cx="2249424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Helvetica Neue"/>
              </a:rPr>
              <a:t>Soft-decision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91256" y="4389120"/>
            <a:ext cx="3511296" cy="502920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82696" y="4389120"/>
            <a:ext cx="3346703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multi-level Vref (LLR)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02552" y="4389120"/>
            <a:ext cx="2852928" cy="502920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93992" y="4389120"/>
            <a:ext cx="2688336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100+ bits/KB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55480" y="4389120"/>
            <a:ext cx="2194560" cy="502920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19" y="4389120"/>
            <a:ext cx="2029968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 Neue"/>
              </a:rPr>
              <a:t>~10–50 µs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25780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120" y="543153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1288" y="533095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SLC→BCH; MLC→BCH/LDPC; TLC→LDPC mandatory; QLC→strong multi-iteration LDPC. Denser flash needs stronger ECC.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6 · BACK-END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6.3  Read Retry — 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24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6766560" cy="658368"/>
          </a:xfrm>
          <a:prstGeom prst="roundRect">
            <a:avLst>
              <a:gd name="adj" fmla="val 10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50" b="1">
                <a:solidFill>
                  <a:srgbClr val="F1F5F9"/>
                </a:solidFill>
                <a:latin typeface="Helvetica Neue"/>
              </a:rPr>
              <a:t>NAND read → LDPC hard-decision decode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~1 µs • corrects ~40–60 bits/KB</a:t>
            </a:r>
          </a:p>
        </p:txBody>
      </p:sp>
      <p:sp>
        <p:nvSpPr>
          <p:cNvPr id="8" name="Down Arrow 7"/>
          <p:cNvSpPr/>
          <p:nvPr/>
        </p:nvSpPr>
        <p:spPr>
          <a:xfrm>
            <a:off x="1353312" y="2350008"/>
            <a:ext cx="219456" cy="164592"/>
          </a:xfrm>
          <a:prstGeom prst="down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350008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decode fails 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06040"/>
            <a:ext cx="6766560" cy="658368"/>
          </a:xfrm>
          <a:prstGeom prst="roundRect">
            <a:avLst>
              <a:gd name="adj" fmla="val 10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50" b="1">
                <a:solidFill>
                  <a:srgbClr val="F1F5F9"/>
                </a:solidFill>
                <a:latin typeface="Helvetica Neue"/>
              </a:rPr>
              <a:t>Read Retry: shift Vref ±Δ, re-decode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up to 20–50 voltage-offset levels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353312" y="3264408"/>
            <a:ext cx="219456" cy="164592"/>
          </a:xfrm>
          <a:prstGeom prst="down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264408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decode fails 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20440"/>
            <a:ext cx="6766560" cy="658368"/>
          </a:xfrm>
          <a:prstGeom prst="roundRect">
            <a:avLst>
              <a:gd name="adj" fmla="val 10000"/>
            </a:avLst>
          </a:prstGeom>
          <a:solidFill>
            <a:srgbClr val="43226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50" b="1">
                <a:solidFill>
                  <a:srgbClr val="F1F5F9"/>
                </a:solidFill>
                <a:latin typeface="Helvetica Neue"/>
              </a:rPr>
              <a:t>Soft-Decision LDPC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multiple reads → LLR reliability • ~10–50 µs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353312" y="4178808"/>
            <a:ext cx="219456" cy="164592"/>
          </a:xfrm>
          <a:prstGeom prst="down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178808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decode fails 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4840"/>
            <a:ext cx="6766560" cy="658368"/>
          </a:xfrm>
          <a:prstGeom prst="roundRect">
            <a:avLst>
              <a:gd name="adj" fmla="val 10000"/>
            </a:avLst>
          </a:prstGeom>
          <a:solidFill>
            <a:srgbClr val="5F1B1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50" b="1">
                <a:solidFill>
                  <a:srgbClr val="F1F5F9"/>
                </a:solidFill>
                <a:latin typeface="Helvetica Neue"/>
              </a:rPr>
              <a:t>UECC — uncorrectable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Helvetica Neue"/>
              </a:rPr>
              <a:t>report to host / RAID recovery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691640"/>
            <a:ext cx="3977639" cy="274320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36992" y="1892808"/>
            <a:ext cx="292608" cy="822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81965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Why decode fails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2350008"/>
            <a:ext cx="3520439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Helvetica Neue"/>
              </a:rPr>
              <a:t>▸  </a:t>
            </a:r>
            <a:r>
              <a:rPr sz="1200" b="1">
                <a:solidFill>
                  <a:srgbClr val="F1F5F9"/>
                </a:solidFill>
                <a:latin typeface="Helvetica Neue"/>
              </a:rPr>
              <a:t>Retention: </a:t>
            </a:r>
            <a:r>
              <a:rPr sz="1200">
                <a:solidFill>
                  <a:srgbClr val="F1F5F9"/>
                </a:solidFill>
                <a:latin typeface="Helvetica Neue"/>
              </a:rPr>
              <a:t>cells slowly lose charge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Helvetica Neue"/>
              </a:rPr>
              <a:t>▸  </a:t>
            </a:r>
            <a:r>
              <a:rPr sz="1200" b="1">
                <a:solidFill>
                  <a:srgbClr val="F1F5F9"/>
                </a:solidFill>
                <a:latin typeface="Helvetica Neue"/>
              </a:rPr>
              <a:t>P/E wear: </a:t>
            </a:r>
            <a:r>
              <a:rPr sz="1200">
                <a:solidFill>
                  <a:srgbClr val="F1F5F9"/>
                </a:solidFill>
                <a:latin typeface="Helvetica Neue"/>
              </a:rPr>
              <a:t>Vth distributions shift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Helvetica Neue"/>
              </a:rPr>
              <a:t>▸  </a:t>
            </a:r>
            <a:r>
              <a:rPr sz="1200" b="1">
                <a:solidFill>
                  <a:srgbClr val="F1F5F9"/>
                </a:solidFill>
                <a:latin typeface="Helvetica Neue"/>
              </a:rPr>
              <a:t>Read disturb: </a:t>
            </a:r>
            <a:r>
              <a:rPr sz="1200">
                <a:solidFill>
                  <a:srgbClr val="F1F5F9"/>
                </a:solidFill>
                <a:latin typeface="Helvetica Neue"/>
              </a:rPr>
              <a:t>neighboring reads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Helvetica Neue"/>
              </a:rPr>
              <a:t>▸  </a:t>
            </a:r>
            <a:r>
              <a:rPr sz="1200" b="1">
                <a:solidFill>
                  <a:srgbClr val="F1F5F9"/>
                </a:solidFill>
                <a:latin typeface="Helvetica Neue"/>
              </a:rPr>
              <a:t>Temperature: </a:t>
            </a:r>
            <a:r>
              <a:rPr sz="1200">
                <a:solidFill>
                  <a:srgbClr val="F1F5F9"/>
                </a:solidFill>
                <a:latin typeface="Helvetica Neue"/>
              </a:rPr>
              <a:t>shifts thresholds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48640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566013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" y="555955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As a QLC drive ages, more reads fall through to soft-decision decoding — the hidden cause of read-latency creep.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6 · BACK-END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6.4  Program Suspend / Resume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25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F4444"/>
                </a:solidFill>
                <a:latin typeface="Helvetica Neue"/>
              </a:rPr>
              <a:t>WITHOUT suspend — read waits for the whole program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7589520" cy="457200"/>
          </a:xfrm>
          <a:prstGeom prst="roundRect">
            <a:avLst>
              <a:gd name="adj" fmla="val 10000"/>
            </a:avLst>
          </a:prstGeom>
          <a:solidFill>
            <a:srgbClr val="643394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83664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1F5F9"/>
                </a:solidFill>
                <a:latin typeface="Helvetica Neue"/>
              </a:rPr>
              <a:t>PROGRAM  ~1.5 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82880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24334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READ waits → ~2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Helvetica Neue"/>
              </a:rPr>
              <a:t>WITH suspend/resume — read jumps the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2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5C2E87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PROG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017520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865606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SUSP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301752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126C33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READ 75µs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3017520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865606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01752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5C2E87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1F5F9"/>
                </a:solidFill>
                <a:latin typeface="Helvetica Neue"/>
              </a:rPr>
              <a:t>PROG cont.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9476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50" b="1">
                <a:solidFill>
                  <a:srgbClr val="F1F5F9"/>
                </a:solidFill>
                <a:latin typeface="Helvetica Neue"/>
              </a:rPr>
              <a:t>The trade-off</a:t>
            </a:r>
          </a:p>
          <a:p>
            <a:pPr algn="ctr"/>
            <a:r>
              <a:rPr sz="1200">
                <a:solidFill>
                  <a:srgbClr val="94A3B8"/>
                </a:solidFill>
                <a:latin typeface="Helvetica Neue"/>
              </a:rPr>
              <a:t>tSUS+tRES ≈ 10–20 µs overhead; excessive suspends add 10–20% to tPROG — but read tail latency drops from ~2 ms to ~100 µs.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2920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520293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510235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This is what keeps a game load or app launch snappy even while the SSD flushes a big background write.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7 ·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DRAM Management (1 GB on a 1 TB SSD)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26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542A7B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1F5F9"/>
                </a:solidFill>
                <a:latin typeface="Helvetica Neue"/>
              </a:rPr>
              <a:t>L2P Mapping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71907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~512 MB • 50%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D417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6771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1F5F9"/>
                </a:solidFill>
                <a:latin typeface="Helvetica Neue"/>
              </a:rPr>
              <a:t>Write Buffer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26771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~256 MB • 25%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4320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1622F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16352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1F5F9"/>
                </a:solidFill>
                <a:latin typeface="Helvetica Neue"/>
              </a:rPr>
              <a:t>Read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8163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~128 MB • 12.5%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91839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7A4F0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64991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1F5F9"/>
                </a:solidFill>
                <a:latin typeface="Helvetica Neue"/>
              </a:rPr>
              <a:t>GC Buffer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364991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~64 MB • 6.25%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84048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4A515C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1363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1F5F9"/>
                </a:solidFill>
                <a:latin typeface="Helvetica Neue"/>
              </a:rPr>
              <a:t>FW Heap / 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91363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~64 MB • 6.25%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645920"/>
            <a:ext cx="3886200" cy="274320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28431" y="1847088"/>
            <a:ext cx="292608" cy="8229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773936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What each is for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1" y="2304288"/>
            <a:ext cx="3429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▸  </a:t>
            </a:r>
            <a:r>
              <a:rPr sz="1100" b="1">
                <a:solidFill>
                  <a:srgbClr val="F1F5F9"/>
                </a:solidFill>
                <a:latin typeface="Helvetica Neue"/>
              </a:rPr>
              <a:t>Mapping cache: </a:t>
            </a:r>
            <a:r>
              <a:rPr sz="1100">
                <a:solidFill>
                  <a:srgbClr val="F1F5F9"/>
                </a:solidFill>
                <a:latin typeface="Helvetica Neue"/>
              </a:rPr>
              <a:t>hot L2P in DRAM, cold paged from NAND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▸  </a:t>
            </a:r>
            <a:r>
              <a:rPr sz="1100" b="1">
                <a:solidFill>
                  <a:srgbClr val="F1F5F9"/>
                </a:solidFill>
                <a:latin typeface="Helvetica Neue"/>
              </a:rPr>
              <a:t>Write buffer: </a:t>
            </a:r>
            <a:r>
              <a:rPr sz="1100">
                <a:solidFill>
                  <a:srgbClr val="F1F5F9"/>
                </a:solidFill>
                <a:latin typeface="Helvetica Neue"/>
              </a:rPr>
              <a:t>coalesce small writes, program full pages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▸  </a:t>
            </a:r>
            <a:r>
              <a:rPr sz="1100" b="1">
                <a:solidFill>
                  <a:srgbClr val="F1F5F9"/>
                </a:solidFill>
                <a:latin typeface="Helvetica Neue"/>
              </a:rPr>
              <a:t>Read cache: </a:t>
            </a:r>
            <a:r>
              <a:rPr sz="1100">
                <a:solidFill>
                  <a:srgbClr val="F1F5F9"/>
                </a:solidFill>
                <a:latin typeface="Helvetica Neue"/>
              </a:rPr>
              <a:t>exploit temporal locality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▸  </a:t>
            </a:r>
            <a:r>
              <a:rPr sz="1100" b="1">
                <a:solidFill>
                  <a:srgbClr val="F1F5F9"/>
                </a:solidFill>
                <a:latin typeface="Helvetica Neue"/>
              </a:rPr>
              <a:t>PLP-protected: </a:t>
            </a:r>
            <a:r>
              <a:rPr sz="1100">
                <a:solidFill>
                  <a:srgbClr val="F1F5F9"/>
                </a:solidFill>
                <a:latin typeface="Helvetica Neue"/>
              </a:rPr>
              <a:t>buffers survive power loss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89204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" y="506577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496519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This split is why a 1 TB DRAM SSD ships with ~1 GB DRAM — most of it is just the mapping table.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8 ·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Multi-Core Firmware Partitioning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27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B2735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Core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103120"/>
            <a:ext cx="1234440" cy="411480"/>
          </a:xfrm>
          <a:prstGeom prst="roundRect">
            <a:avLst>
              <a:gd name="adj" fmla="val 15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3B82F6"/>
                </a:solidFill>
                <a:latin typeface="Helvetica Neue"/>
              </a:rPr>
              <a:t>▸  </a:t>
            </a:r>
            <a:r>
              <a:rPr sz="1050">
                <a:solidFill>
                  <a:srgbClr val="F1F5F9"/>
                </a:solidFill>
                <a:latin typeface="Helvetica Neue"/>
              </a:rPr>
              <a:t>NVMe cmd • SQ/CQ • host DMA •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6002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B2735"/>
          </a:solidFill>
          <a:ln w="1524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7373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Core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103120"/>
            <a:ext cx="1234440" cy="411480"/>
          </a:xfrm>
          <a:prstGeom prst="roundRect">
            <a:avLst>
              <a:gd name="adj" fmla="val 15000"/>
            </a:avLst>
          </a:prstGeom>
          <a:solidFill>
            <a:srgbClr val="43226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FTL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65176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A855F7"/>
                </a:solidFill>
                <a:latin typeface="Helvetica Neue"/>
              </a:rPr>
              <a:t>▸  </a:t>
            </a:r>
            <a:r>
              <a:rPr sz="1050">
                <a:solidFill>
                  <a:srgbClr val="F1F5F9"/>
                </a:solidFill>
                <a:latin typeface="Helvetica Neue"/>
              </a:rPr>
              <a:t>L2P • GC • WL • TRIM • journal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16002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B2735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17373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Core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79" y="2103120"/>
            <a:ext cx="1234440" cy="411480"/>
          </a:xfrm>
          <a:prstGeom prst="roundRect">
            <a:avLst>
              <a:gd name="adj" fmla="val 15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65176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22C55E"/>
                </a:solidFill>
                <a:latin typeface="Helvetica Neue"/>
              </a:rPr>
              <a:t>▸  </a:t>
            </a:r>
            <a:r>
              <a:rPr sz="1050">
                <a:solidFill>
                  <a:srgbClr val="F1F5F9"/>
                </a:solidFill>
                <a:latin typeface="Helvetica Neue"/>
              </a:rPr>
              <a:t>channels 0–3 • ECC • retry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3999" y="16002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B2735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599" y="17373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Core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599" y="2103120"/>
            <a:ext cx="1234440" cy="411480"/>
          </a:xfrm>
          <a:prstGeom prst="roundRect">
            <a:avLst>
              <a:gd name="adj" fmla="val 15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BE / Mgmt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65176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22C55E"/>
                </a:solidFill>
                <a:latin typeface="Helvetica Neue"/>
              </a:rPr>
              <a:t>▸  </a:t>
            </a:r>
            <a:r>
              <a:rPr sz="1050">
                <a:solidFill>
                  <a:srgbClr val="F1F5F9"/>
                </a:solidFill>
                <a:latin typeface="Helvetica Neue"/>
              </a:rPr>
              <a:t>channels 4–7 • SMART • thermal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657600"/>
            <a:ext cx="10972800" cy="594360"/>
          </a:xfrm>
          <a:prstGeom prst="roundRect">
            <a:avLst>
              <a:gd name="adj" fmla="val 10000"/>
            </a:avLst>
          </a:prstGeom>
          <a:solidFill>
            <a:srgbClr val="0D3F39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03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1F5F9"/>
                </a:solidFill>
                <a:latin typeface="Helvetica Neue"/>
              </a:rPr>
              <a:t>SHARED DRAM / SRAM — L2P • buffers • lock-free ring buffers • HW mailboxes &amp; semaphores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434840"/>
            <a:ext cx="10972800" cy="68580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50" b="1">
                <a:solidFill>
                  <a:srgbClr val="F1F5F9"/>
                </a:solidFill>
                <a:latin typeface="Helvetica Neue"/>
              </a:rPr>
              <a:t>Critical section</a:t>
            </a:r>
          </a:p>
          <a:p>
            <a:pPr algn="ctr"/>
            <a:r>
              <a:rPr sz="1150">
                <a:solidFill>
                  <a:srgbClr val="94A3B8"/>
                </a:solidFill>
                <a:latin typeface="Helvetica Neue"/>
              </a:rPr>
              <a:t>The L2P table is touched by host read, host write, GC, and TRIM — guarded by per-LBA-range locks or partitioned per core.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30352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" y="547725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537667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Real-time Cortex-R cores run latency-critical FE/BE; application cores handle GC and housekeeping.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9 ·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Firmware Boot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28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6949440" cy="713232"/>
          </a:xfrm>
          <a:prstGeom prst="roundRect">
            <a:avLst>
              <a:gd name="adj" fmla="val 10000"/>
            </a:avLst>
          </a:prstGeom>
          <a:solidFill>
            <a:srgbClr val="3B414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50" b="1">
                <a:solidFill>
                  <a:srgbClr val="F1F5F9"/>
                </a:solidFill>
                <a:latin typeface="Helvetica Neue"/>
              </a:rPr>
              <a:t>1  Boot ROM</a:t>
            </a:r>
          </a:p>
          <a:p>
            <a:pPr algn="ctr"/>
            <a:r>
              <a:rPr sz="1050">
                <a:solidFill>
                  <a:srgbClr val="94A3B8"/>
                </a:solidFill>
                <a:latin typeface="Helvetica Neue"/>
              </a:rPr>
              <a:t>immutable • init clocks/SRAM • load + verify bootloader</a:t>
            </a:r>
          </a:p>
        </p:txBody>
      </p:sp>
      <p:sp>
        <p:nvSpPr>
          <p:cNvPr id="8" name="Down Arrow 7"/>
          <p:cNvSpPr/>
          <p:nvPr/>
        </p:nvSpPr>
        <p:spPr>
          <a:xfrm>
            <a:off x="1444752" y="2313432"/>
            <a:ext cx="219456" cy="146304"/>
          </a:xfrm>
          <a:prstGeom prst="down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468880"/>
            <a:ext cx="6949440" cy="713232"/>
          </a:xfrm>
          <a:prstGeom prst="roundRect">
            <a:avLst>
              <a:gd name="adj" fmla="val 10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50" b="1">
                <a:solidFill>
                  <a:srgbClr val="F1F5F9"/>
                </a:solidFill>
                <a:latin typeface="Helvetica Neue"/>
              </a:rPr>
              <a:t>2  Bootloader</a:t>
            </a:r>
          </a:p>
          <a:p>
            <a:pPr algn="ctr"/>
            <a:r>
              <a:rPr sz="1050">
                <a:solidFill>
                  <a:srgbClr val="94A3B8"/>
                </a:solidFill>
                <a:latin typeface="Helvetica Neue"/>
              </a:rPr>
              <a:t>train DRAM • detect NAND geometry • load + verify main FW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444752" y="3182112"/>
            <a:ext cx="219456" cy="146304"/>
          </a:xfrm>
          <a:prstGeom prst="down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3337560"/>
            <a:ext cx="6949440" cy="713232"/>
          </a:xfrm>
          <a:prstGeom prst="roundRect">
            <a:avLst>
              <a:gd name="adj" fmla="val 10000"/>
            </a:avLst>
          </a:prstGeom>
          <a:solidFill>
            <a:srgbClr val="43226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50" b="1">
                <a:solidFill>
                  <a:srgbClr val="F1F5F9"/>
                </a:solidFill>
                <a:latin typeface="Helvetica Neue"/>
              </a:rPr>
              <a:t>3  Main FW init</a:t>
            </a:r>
          </a:p>
          <a:p>
            <a:pPr algn="ctr"/>
            <a:r>
              <a:rPr sz="1050">
                <a:solidFill>
                  <a:srgbClr val="94A3B8"/>
                </a:solidFill>
                <a:latin typeface="Helvetica Neue"/>
              </a:rPr>
              <a:t>scan BBT • load L2P checkpoint / replay journal • init FE, GC, WL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444752" y="4050791"/>
            <a:ext cx="219456" cy="146304"/>
          </a:xfrm>
          <a:prstGeom prst="down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4206240"/>
            <a:ext cx="6949440" cy="713232"/>
          </a:xfrm>
          <a:prstGeom prst="roundRect">
            <a:avLst>
              <a:gd name="adj" fmla="val 10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50" b="1">
                <a:solidFill>
                  <a:srgbClr val="F1F5F9"/>
                </a:solidFill>
                <a:latin typeface="Helvetica Neue"/>
              </a:rPr>
              <a:t>4  Ready</a:t>
            </a:r>
          </a:p>
          <a:p>
            <a:pPr algn="ctr"/>
            <a:r>
              <a:rPr sz="1050">
                <a:solidFill>
                  <a:srgbClr val="94A3B8"/>
                </a:solidFill>
                <a:latin typeface="Helvetica Neue"/>
              </a:rPr>
              <a:t>set CSTS.RDY = 1 • start background tasks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691640"/>
            <a:ext cx="2276856" cy="420624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691640"/>
            <a:ext cx="2112264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Helvetica Neue"/>
              </a:rPr>
              <a:t>Phase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32136" y="1691640"/>
            <a:ext cx="1517904" cy="420624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23576" y="1691640"/>
            <a:ext cx="1353312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Helvetica Neue"/>
              </a:rPr>
              <a:t>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112264"/>
            <a:ext cx="2276856" cy="420624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9" y="2112264"/>
            <a:ext cx="2112264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Helvetica Neue"/>
              </a:rPr>
              <a:t>Boot ROM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32136" y="2112264"/>
            <a:ext cx="1517904" cy="420624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23576" y="2112264"/>
            <a:ext cx="1353312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Helvetica Neue"/>
              </a:rPr>
              <a:t>1–10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2532888"/>
            <a:ext cx="2276856" cy="420624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2532888"/>
            <a:ext cx="2112264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Helvetica Neue"/>
              </a:rPr>
              <a:t>Bootloader+DRAM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32136" y="2532888"/>
            <a:ext cx="1517904" cy="420624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23576" y="2532888"/>
            <a:ext cx="1353312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Helvetica Neue"/>
              </a:rPr>
              <a:t>50–200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953512"/>
            <a:ext cx="2276856" cy="420624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9" y="2953512"/>
            <a:ext cx="2112264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Helvetica Neue"/>
              </a:rPr>
              <a:t>FW load+verify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32136" y="2953512"/>
            <a:ext cx="1517904" cy="420624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23576" y="2953512"/>
            <a:ext cx="1353312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Helvetica Neue"/>
              </a:rPr>
              <a:t>20–500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3374136"/>
            <a:ext cx="2276856" cy="420624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9" y="3374136"/>
            <a:ext cx="2112264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Helvetica Neue"/>
              </a:rPr>
              <a:t>L2P rebuild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32136" y="3374136"/>
            <a:ext cx="1517904" cy="420624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23576" y="3374136"/>
            <a:ext cx="1353312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Helvetica Neue"/>
              </a:rPr>
              <a:t>0.1–2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3794760"/>
            <a:ext cx="2276856" cy="420624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9" y="3794760"/>
            <a:ext cx="2112264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Helvetica Neue"/>
              </a:rPr>
              <a:t>Total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32136" y="3794760"/>
            <a:ext cx="1517904" cy="420624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23576" y="3794760"/>
            <a:ext cx="1353312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Helvetica Neue"/>
              </a:rPr>
              <a:t>~0.3–3 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21208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0120" y="538581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1288" y="528523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Secure boot verifies each stage's RSA/ECDSA signature — why you can't flash arbitrary firmware onto a modern SSD.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10 ·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Firmware Update: Dual-Bank (A/B)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29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5212080" cy="777240"/>
          </a:xfrm>
          <a:prstGeom prst="roundRect">
            <a:avLst>
              <a:gd name="adj" fmla="val 10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1F5F9"/>
                </a:solidFill>
                <a:latin typeface="Helvetica Neue"/>
              </a:rPr>
              <a:t>Bank A — ACTIVE</a:t>
            </a:r>
          </a:p>
          <a:p>
            <a:pPr algn="ctr"/>
            <a:r>
              <a:rPr sz="1150">
                <a:solidFill>
                  <a:srgbClr val="94A3B8"/>
                </a:solidFill>
                <a:latin typeface="Helvetica Neue"/>
              </a:rPr>
              <a:t>v1.2 (running now)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691640"/>
            <a:ext cx="5212080" cy="777240"/>
          </a:xfrm>
          <a:prstGeom prst="roundRect">
            <a:avLst>
              <a:gd name="adj" fmla="val 10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1F5F9"/>
                </a:solidFill>
                <a:latin typeface="Helvetica Neue"/>
              </a:rPr>
              <a:t>Bank B — STANDBY</a:t>
            </a:r>
          </a:p>
          <a:p>
            <a:pPr algn="ctr"/>
            <a:r>
              <a:rPr sz="1150">
                <a:solidFill>
                  <a:srgbClr val="94A3B8"/>
                </a:solidFill>
                <a:latin typeface="Helvetica Neue"/>
              </a:rPr>
              <a:t>v1.1 (backup)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7680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DD4BF"/>
                </a:solidFill>
                <a:latin typeface="Helvetica Neue"/>
              </a:rPr>
              <a:t>▸  </a:t>
            </a:r>
            <a:r>
              <a:rPr sz="1400">
                <a:solidFill>
                  <a:srgbClr val="F1F5F9"/>
                </a:solidFill>
                <a:latin typeface="Helvetica Neue"/>
              </a:rPr>
              <a:t>1  Download new FW → Bank B (NVMe FW Download 0x11)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DD4BF"/>
                </a:solidFill>
                <a:latin typeface="Helvetica Neue"/>
              </a:rPr>
              <a:t>▸  </a:t>
            </a:r>
            <a:r>
              <a:rPr sz="1400">
                <a:solidFill>
                  <a:srgbClr val="F1F5F9"/>
                </a:solidFill>
                <a:latin typeface="Helvetica Neue"/>
              </a:rPr>
              <a:t>2  Verify CRC / RSA signature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DD4BF"/>
                </a:solidFill>
                <a:latin typeface="Helvetica Neue"/>
              </a:rPr>
              <a:t>▸  </a:t>
            </a:r>
            <a:r>
              <a:rPr sz="1400">
                <a:solidFill>
                  <a:srgbClr val="F1F5F9"/>
                </a:solidFill>
                <a:latin typeface="Helvetica Neue"/>
              </a:rPr>
              <a:t>3  Firmware Commit (0x10) → set boot pointer to Bank B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DD4BF"/>
                </a:solidFill>
                <a:latin typeface="Helvetica Neue"/>
              </a:rPr>
              <a:t>▸  </a:t>
            </a:r>
            <a:r>
              <a:rPr sz="1400">
                <a:solidFill>
                  <a:srgbClr val="F1F5F9"/>
                </a:solidFill>
                <a:latin typeface="Helvetica Neue"/>
              </a:rPr>
              <a:t>4  Reset → boot from Bank B; Bank A becomes backup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DD4BF"/>
                </a:solidFill>
                <a:latin typeface="Helvetica Neue"/>
              </a:rPr>
              <a:t>▸  </a:t>
            </a:r>
            <a:r>
              <a:rPr sz="1400">
                <a:solidFill>
                  <a:srgbClr val="F1F5F9"/>
                </a:solidFill>
                <a:latin typeface="Helvetica Neue"/>
              </a:rPr>
              <a:t>5  If Bank B fails to boot → ROM falls back to Bank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743200"/>
            <a:ext cx="2971800" cy="214884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42832" y="2944368"/>
            <a:ext cx="292608" cy="822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2871216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Why A/B?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4272" y="3401568"/>
            <a:ext cx="25146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Helvetica Neue"/>
              </a:rPr>
              <a:t>▸  </a:t>
            </a:r>
            <a:r>
              <a:rPr sz="1200" b="1">
                <a:solidFill>
                  <a:srgbClr val="F1F5F9"/>
                </a:solidFill>
                <a:latin typeface="Helvetica Neue"/>
              </a:rPr>
              <a:t>Safety: </a:t>
            </a:r>
            <a:r>
              <a:rPr sz="1200">
                <a:solidFill>
                  <a:srgbClr val="F1F5F9"/>
                </a:solidFill>
                <a:latin typeface="Helvetica Neue"/>
              </a:rPr>
              <a:t>a bad image never bricks the drive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Helvetica Neue"/>
              </a:rPr>
              <a:t>▸  </a:t>
            </a:r>
            <a:r>
              <a:rPr sz="1200" b="1">
                <a:solidFill>
                  <a:srgbClr val="F1F5F9"/>
                </a:solidFill>
                <a:latin typeface="Helvetica Neue"/>
              </a:rPr>
              <a:t>Rollback: </a:t>
            </a:r>
            <a:r>
              <a:rPr sz="1200">
                <a:solidFill>
                  <a:srgbClr val="F1F5F9"/>
                </a:solidFill>
                <a:latin typeface="Helvetica Neue"/>
              </a:rPr>
              <a:t>previous image always survives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21208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538581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528523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A single-bank budget SSD can brick if power drops mid-update — A/B is why fleets update safely under live I/O.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11 ·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Power-Loss Recovery (SPOR)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30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Helvetica Neue"/>
              </a:rPr>
              <a:t>NORMAL OPERATION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5394960" cy="566928"/>
          </a:xfrm>
          <a:prstGeom prst="roundRect">
            <a:avLst>
              <a:gd name="adj" fmla="val 10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Every write</a:t>
            </a:r>
          </a:p>
          <a:p>
            <a:pPr algn="ctr"/>
            <a:r>
              <a:rPr sz="950">
                <a:solidFill>
                  <a:srgbClr val="94A3B8"/>
                </a:solidFill>
                <a:latin typeface="Helvetica Neue"/>
              </a:rPr>
              <a:t>append journal {LPN, old→new PPA, seqno, CRC}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86000"/>
            <a:ext cx="5394960" cy="566928"/>
          </a:xfrm>
          <a:prstGeom prst="roundRect">
            <a:avLst>
              <a:gd name="adj" fmla="val 10000"/>
            </a:avLst>
          </a:prstGeom>
          <a:solidFill>
            <a:srgbClr val="173462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Every N writes / T sec</a:t>
            </a:r>
          </a:p>
          <a:p>
            <a:pPr algn="ctr"/>
            <a:r>
              <a:rPr sz="950">
                <a:solidFill>
                  <a:srgbClr val="94A3B8"/>
                </a:solidFill>
                <a:latin typeface="Helvetica Neue"/>
              </a:rPr>
              <a:t>checkpoint dirty L2P pages to reserved NAND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RECOVERY ON NEXT BOOT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349240" cy="438912"/>
          </a:xfrm>
          <a:prstGeom prst="roundRect">
            <a:avLst>
              <a:gd name="adj" fmla="val 12000"/>
            </a:avLst>
          </a:prstGeom>
          <a:solidFill>
            <a:srgbClr val="43226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1  Load last L2P checkpoint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867144" y="2084832"/>
            <a:ext cx="164592" cy="91440"/>
          </a:xfrm>
          <a:prstGeom prst="down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176272"/>
            <a:ext cx="5349240" cy="438912"/>
          </a:xfrm>
          <a:prstGeom prst="roundRect">
            <a:avLst>
              <a:gd name="adj" fmla="val 12000"/>
            </a:avLst>
          </a:prstGeom>
          <a:solidFill>
            <a:srgbClr val="43226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2  Replay journal after checkpoint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867144" y="2615184"/>
            <a:ext cx="164592" cy="91440"/>
          </a:xfrm>
          <a:prstGeom prst="down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706624"/>
            <a:ext cx="5349240" cy="438912"/>
          </a:xfrm>
          <a:prstGeom prst="roundRect">
            <a:avLst>
              <a:gd name="adj" fmla="val 12000"/>
            </a:avLst>
          </a:prstGeom>
          <a:solidFill>
            <a:srgbClr val="43226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3  Scan open blocks for partial writes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867144" y="3145536"/>
            <a:ext cx="164592" cy="91440"/>
          </a:xfrm>
          <a:prstGeom prst="down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3236976"/>
            <a:ext cx="5349240" cy="438912"/>
          </a:xfrm>
          <a:prstGeom prst="roundRect">
            <a:avLst>
              <a:gd name="adj" fmla="val 12000"/>
            </a:avLst>
          </a:prstGeom>
          <a:solidFill>
            <a:srgbClr val="43226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4  Discard corrupted pages → consistent L2P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867144" y="3675887"/>
            <a:ext cx="164592" cy="91440"/>
          </a:xfrm>
          <a:prstGeom prst="down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767328"/>
            <a:ext cx="5349240" cy="438912"/>
          </a:xfrm>
          <a:prstGeom prst="roundRect">
            <a:avLst>
              <a:gd name="adj" fmla="val 12000"/>
            </a:avLst>
          </a:prstGeom>
          <a:solidFill>
            <a:srgbClr val="0D4E25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5  Resume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06324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1B273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50" b="1">
                <a:solidFill>
                  <a:srgbClr val="F1F5F9"/>
                </a:solidFill>
                <a:latin typeface="Helvetica Neue"/>
              </a:rPr>
              <a:t>PLP hardware</a:t>
            </a:r>
          </a:p>
          <a:p>
            <a:pPr algn="ctr"/>
            <a:r>
              <a:rPr sz="1100">
                <a:solidFill>
                  <a:srgbClr val="94A3B8"/>
                </a:solidFill>
                <a:latin typeface="Helvetica Neue"/>
              </a:rPr>
              <a:t>Enterprise drives carry supercaps (~10–50 ms) to flush write buffer, dirty L2P &amp; journal to NAND on power dip.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14800"/>
            <a:ext cx="5394960" cy="777240"/>
          </a:xfrm>
          <a:prstGeom prst="roundRect">
            <a:avLst>
              <a:gd name="adj" fmla="val 10000"/>
            </a:avLst>
          </a:prstGeom>
          <a:solidFill>
            <a:srgbClr val="471414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Golden rule</a:t>
            </a:r>
          </a:p>
          <a:p>
            <a:pPr algn="ctr"/>
            <a:r>
              <a:rPr sz="1050">
                <a:solidFill>
                  <a:srgbClr val="94A3B8"/>
                </a:solidFill>
                <a:latin typeface="Helvetica Neue"/>
              </a:rPr>
              <a:t>Update L2P only AFTER NAND program success — else a crash leaves a mapping to an unprogrammed page.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07492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" y="524865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514807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Client SSDs often skip supercaps and accept losing only the last few unacknowledged writes.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12 ·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QoS &amp; Command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31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F4444"/>
                </a:solidFill>
                <a:latin typeface="Helvetica Neue"/>
              </a:rPr>
              <a:t>WITHOUT QoS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6309360" cy="438912"/>
          </a:xfrm>
          <a:prstGeom prst="roundRect">
            <a:avLst>
              <a:gd name="adj" fmla="val 10000"/>
            </a:avLst>
          </a:prstGeom>
          <a:solidFill>
            <a:srgbClr val="83252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1F5F9"/>
                </a:solidFill>
                <a:latin typeface="Helvetica Neue"/>
              </a:rPr>
              <a:t>read blocked by GC writes → ~10+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Helvetica Neue"/>
              </a:rPr>
              <a:t>WITH QoS (interleaved)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06040"/>
            <a:ext cx="749808" cy="438912"/>
          </a:xfrm>
          <a:prstGeom prst="roundRect">
            <a:avLst>
              <a:gd name="adj" fmla="val 12000"/>
            </a:avLst>
          </a:prstGeom>
          <a:solidFill>
            <a:srgbClr val="11622F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18488" y="2606040"/>
            <a:ext cx="749808" cy="438912"/>
          </a:xfrm>
          <a:prstGeom prst="roundRect">
            <a:avLst>
              <a:gd name="adj" fmla="val 12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GC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9736" y="2606040"/>
            <a:ext cx="749808" cy="438912"/>
          </a:xfrm>
          <a:prstGeom prst="roundRect">
            <a:avLst>
              <a:gd name="adj" fmla="val 12000"/>
            </a:avLst>
          </a:prstGeom>
          <a:solidFill>
            <a:srgbClr val="11622F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0984" y="2606040"/>
            <a:ext cx="749808" cy="438912"/>
          </a:xfrm>
          <a:prstGeom prst="roundRect">
            <a:avLst>
              <a:gd name="adj" fmla="val 12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GC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42232" y="2606040"/>
            <a:ext cx="749808" cy="438912"/>
          </a:xfrm>
          <a:prstGeom prst="roundRect">
            <a:avLst>
              <a:gd name="adj" fmla="val 12000"/>
            </a:avLst>
          </a:prstGeom>
          <a:solidFill>
            <a:srgbClr val="11622F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2606040"/>
            <a:ext cx="749808" cy="438912"/>
          </a:xfrm>
          <a:prstGeom prst="roundRect">
            <a:avLst>
              <a:gd name="adj" fmla="val 12000"/>
            </a:avLst>
          </a:prstGeom>
          <a:solidFill>
            <a:srgbClr val="24334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1F5F9"/>
                </a:solidFill>
                <a:latin typeface="Helvetica Neue"/>
              </a:rPr>
              <a:t>GC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670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C55E"/>
                </a:solidFill>
                <a:latin typeface="Helvetica Neue"/>
              </a:rPr>
              <a:t>→ ~100–200 µs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37560"/>
            <a:ext cx="6675120" cy="1828800"/>
          </a:xfrm>
          <a:prstGeom prst="roundRect">
            <a:avLst>
              <a:gd name="adj" fmla="val 6000"/>
            </a:avLst>
          </a:prstGeom>
          <a:solidFill>
            <a:srgbClr val="1B2735"/>
          </a:solidFill>
          <a:ln w="12700">
            <a:solidFill>
              <a:srgbClr val="334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" y="3538728"/>
            <a:ext cx="292608" cy="8229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465576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1F5F9"/>
                </a:solidFill>
                <a:latin typeface="Helvetica Neue"/>
              </a:rPr>
              <a:t>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995928"/>
            <a:ext cx="6217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DD4BF"/>
                </a:solidFill>
                <a:latin typeface="Helvetica Neue"/>
              </a:rPr>
              <a:t>▸  </a:t>
            </a:r>
            <a:r>
              <a:rPr sz="1150" b="1">
                <a:solidFill>
                  <a:srgbClr val="F1F5F9"/>
                </a:solidFill>
                <a:latin typeface="Helvetica Neue"/>
              </a:rPr>
              <a:t>Watermarks: </a:t>
            </a:r>
            <a:r>
              <a:rPr sz="1150">
                <a:solidFill>
                  <a:srgbClr val="F1F5F9"/>
                </a:solidFill>
                <a:latin typeface="Helvetica Neue"/>
              </a:rPr>
              <a:t>background GC early; urgent GC when low; never hit zero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DD4BF"/>
                </a:solidFill>
                <a:latin typeface="Helvetica Neue"/>
              </a:rPr>
              <a:t>▸  </a:t>
            </a:r>
            <a:r>
              <a:rPr sz="1150" b="1">
                <a:solidFill>
                  <a:srgbClr val="F1F5F9"/>
                </a:solidFill>
                <a:latin typeface="Helvetica Neue"/>
              </a:rPr>
              <a:t>Rate-adaptive GC: </a:t>
            </a:r>
            <a:r>
              <a:rPr sz="1150">
                <a:solidFill>
                  <a:srgbClr val="F1F5F9"/>
                </a:solidFill>
                <a:latin typeface="Helvetica Neue"/>
              </a:rPr>
              <a:t>aggressive when idle, minimal when busy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DD4BF"/>
                </a:solidFill>
                <a:latin typeface="Helvetica Neue"/>
              </a:rPr>
              <a:t>▸  </a:t>
            </a:r>
            <a:r>
              <a:rPr sz="1150" b="1">
                <a:solidFill>
                  <a:srgbClr val="F1F5F9"/>
                </a:solidFill>
                <a:latin typeface="Helvetica Neue"/>
              </a:rPr>
              <a:t>Suspend/resume + priority + VWC/FUA: </a:t>
            </a:r>
            <a:r>
              <a:rPr sz="1150">
                <a:solidFill>
                  <a:srgbClr val="F1F5F9"/>
                </a:solidFill>
                <a:latin typeface="Helvetica Neue"/>
              </a:rPr>
              <a:t>host I/O beats background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3337560"/>
            <a:ext cx="2187702" cy="365760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3337560"/>
            <a:ext cx="202311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Helvetica Neue"/>
              </a:rPr>
              <a:t>Percentile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0102" y="3337560"/>
            <a:ext cx="1789937" cy="365760"/>
          </a:xfrm>
          <a:prstGeom prst="rect">
            <a:avLst/>
          </a:prstGeom>
          <a:solidFill>
            <a:srgbClr val="0F4A42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1542" y="3337560"/>
            <a:ext cx="1625345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1">
                <a:solidFill>
                  <a:srgbClr val="F1F5F9"/>
                </a:solidFill>
                <a:latin typeface="Helvetica Neue"/>
              </a:rPr>
              <a:t>Target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3703320"/>
            <a:ext cx="2187702" cy="36576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3703320"/>
            <a:ext cx="202311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Helvetica Neue"/>
              </a:rPr>
              <a:t>p50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0102" y="3703320"/>
            <a:ext cx="1789937" cy="36576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1542" y="3703320"/>
            <a:ext cx="1625345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Helvetica Neue"/>
              </a:rPr>
              <a:t>~100 µs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4069080"/>
            <a:ext cx="2187702" cy="365760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4069080"/>
            <a:ext cx="202311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Helvetica Neue"/>
              </a:rPr>
              <a:t>p99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0102" y="4069080"/>
            <a:ext cx="1789937" cy="365760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1542" y="4069080"/>
            <a:ext cx="1625345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Helvetica Neue"/>
              </a:rPr>
              <a:t>&lt; 500 µs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434840"/>
            <a:ext cx="2187702" cy="36576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4434840"/>
            <a:ext cx="202311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Helvetica Neue"/>
              </a:rPr>
              <a:t>p99.9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0102" y="4434840"/>
            <a:ext cx="1789937" cy="365760"/>
          </a:xfrm>
          <a:prstGeom prst="rect">
            <a:avLst/>
          </a:prstGeom>
          <a:solidFill>
            <a:srgbClr val="1B273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1542" y="4434840"/>
            <a:ext cx="1625345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Helvetica Neue"/>
              </a:rPr>
              <a:t>&lt; 1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4800600"/>
            <a:ext cx="2187702" cy="365760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4800600"/>
            <a:ext cx="202311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Helvetica Neue"/>
              </a:rPr>
              <a:t>p99.99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60102" y="4800600"/>
            <a:ext cx="1789937" cy="365760"/>
          </a:xfrm>
          <a:prstGeom prst="rect">
            <a:avLst/>
          </a:prstGeom>
          <a:solidFill>
            <a:srgbClr val="243345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1542" y="4800600"/>
            <a:ext cx="1625345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Helvetica Neue"/>
              </a:rPr>
              <a:t>&lt; 5 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34924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09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0120" y="5522976"/>
            <a:ext cx="82296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1288" y="5422392"/>
            <a:ext cx="10424160" cy="45720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Helvetica Neue"/>
              </a:rPr>
              <a:t>REAL-WORLD:  </a:t>
            </a:r>
            <a:r>
              <a:rPr sz="1100">
                <a:solidFill>
                  <a:srgbClr val="F1F5F9"/>
                </a:solidFill>
                <a:latin typeface="Helvetica Neue"/>
              </a:rPr>
              <a:t>VWC acknowledges a write from DRAM (~10 µs); FUA=1 forces it to NAND first (DB commits, FS journals).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D4BF"/>
                </a:solidFill>
                <a:latin typeface="Helvetica Neue"/>
              </a:rPr>
              <a:t>SECTION 13 ·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1F5F9"/>
                </a:solidFill>
                <a:latin typeface="Helvetica Neue"/>
              </a:rPr>
              <a:t>The Complete Host-Write Path (4 KB → NAND)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Helvetica Neue"/>
              </a:rPr>
              <a:t>32</a:t>
            </a:r>
            <a:r>
              <a:rPr sz="1100" b="0">
                <a:solidFill>
                  <a:srgbClr val="94A3B8"/>
                </a:solidFill>
                <a:latin typeface="Helvetica Neue"/>
              </a:rPr>
              <a:t>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SSD Firmware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4A3B8"/>
                </a:solidFill>
                <a:latin typeface="Helvetica Neue"/>
              </a:rPr>
              <a:t>HOST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335024"/>
            <a:ext cx="45720" cy="9144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957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B82F6"/>
                </a:solidFill>
                <a:latin typeface="Helvetica Neue"/>
              </a:rPr>
              <a:t>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359152"/>
            <a:ext cx="45720" cy="914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1985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A855F7"/>
                </a:solidFill>
                <a:latin typeface="Helvetica Neue"/>
              </a:rPr>
              <a:t>FTL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383280"/>
            <a:ext cx="45720" cy="9144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4398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Helvetica Neue"/>
              </a:rPr>
              <a:t>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4407408"/>
            <a:ext cx="45720" cy="9144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74519" y="1591056"/>
            <a:ext cx="1645920" cy="585216"/>
          </a:xfrm>
          <a:prstGeom prst="roundRect">
            <a:avLst>
              <a:gd name="adj" fmla="val 12000"/>
            </a:avLst>
          </a:prstGeom>
          <a:solidFill>
            <a:srgbClr val="3E444D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>
                <a:solidFill>
                  <a:srgbClr val="F1F5F9"/>
                </a:solidFill>
                <a:latin typeface="Helvetica Neue"/>
              </a:rPr>
              <a:t>1 SQE + doorbell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615184"/>
            <a:ext cx="1645920" cy="585216"/>
          </a:xfrm>
          <a:prstGeom prst="roundRect">
            <a:avLst>
              <a:gd name="adj" fmla="val 12000"/>
            </a:avLst>
          </a:prstGeom>
          <a:solidFill>
            <a:srgbClr val="183667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>
                <a:solidFill>
                  <a:srgbClr val="F1F5F9"/>
                </a:solidFill>
                <a:latin typeface="Helvetica Neue"/>
              </a:rPr>
              <a:t>2 fetch + parse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2615184"/>
            <a:ext cx="1645920" cy="585216"/>
          </a:xfrm>
          <a:prstGeom prst="roundRect">
            <a:avLst>
              <a:gd name="adj" fmla="val 12000"/>
            </a:avLst>
          </a:prstGeom>
          <a:solidFill>
            <a:srgbClr val="183667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>
                <a:solidFill>
                  <a:srgbClr val="F1F5F9"/>
                </a:solidFill>
                <a:latin typeface="Helvetica Neue"/>
              </a:rPr>
              <a:t>3 DMA data →
write buffer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3639312"/>
            <a:ext cx="1645920" cy="585216"/>
          </a:xfrm>
          <a:prstGeom prst="roundRect">
            <a:avLst>
              <a:gd name="adj" fmla="val 12000"/>
            </a:avLst>
          </a:prstGeom>
          <a:solidFill>
            <a:srgbClr val="462367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>
                <a:solidFill>
                  <a:srgbClr val="F1F5F9"/>
                </a:solidFill>
                <a:latin typeface="Helvetica Neue"/>
              </a:rPr>
              <a:t>4 allocate free
page (PPA)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3639312"/>
            <a:ext cx="1783080" cy="585216"/>
          </a:xfrm>
          <a:prstGeom prst="roundRect">
            <a:avLst>
              <a:gd name="adj" fmla="val 12000"/>
            </a:avLst>
          </a:prstGeom>
          <a:solidFill>
            <a:srgbClr val="462367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>
                <a:solidFill>
                  <a:srgbClr val="F1F5F9"/>
                </a:solidFill>
                <a:latin typeface="Helvetica Neue"/>
              </a:rPr>
              <a:t>5 update L2P +
invalidate 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4663440"/>
            <a:ext cx="1645920" cy="585216"/>
          </a:xfrm>
          <a:prstGeom prst="roundRect">
            <a:avLst>
              <a:gd name="adj" fmla="val 12000"/>
            </a:avLst>
          </a:prstGeom>
          <a:solidFill>
            <a:srgbClr val="0E52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>
                <a:solidFill>
                  <a:srgbClr val="F1F5F9"/>
                </a:solidFill>
                <a:latin typeface="Helvetica Neue"/>
              </a:rPr>
              <a:t>6 LDPC encode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4663440"/>
            <a:ext cx="1645920" cy="585216"/>
          </a:xfrm>
          <a:prstGeom prst="roundRect">
            <a:avLst>
              <a:gd name="adj" fmla="val 12000"/>
            </a:avLst>
          </a:prstGeom>
          <a:solidFill>
            <a:srgbClr val="0E52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>
                <a:solidFill>
                  <a:srgbClr val="F1F5F9"/>
                </a:solidFill>
                <a:latin typeface="Helvetica Neue"/>
              </a:rPr>
              <a:t>7 PROGRAM
80h..10h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2120" y="4663440"/>
            <a:ext cx="1645920" cy="585216"/>
          </a:xfrm>
          <a:prstGeom prst="roundRect">
            <a:avLst>
              <a:gd name="adj" fmla="val 12000"/>
            </a:avLst>
          </a:prstGeom>
          <a:solidFill>
            <a:srgbClr val="0E52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>
                <a:solidFill>
                  <a:srgbClr val="F1F5F9"/>
                </a:solidFill>
                <a:latin typeface="Helvetica Neue"/>
              </a:rPr>
              <a:t>8 wait tPROG
~1.5 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3639312"/>
            <a:ext cx="1645920" cy="585216"/>
          </a:xfrm>
          <a:prstGeom prst="roundRect">
            <a:avLst>
              <a:gd name="adj" fmla="val 12000"/>
            </a:avLst>
          </a:prstGeom>
          <a:solidFill>
            <a:srgbClr val="462367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>
                <a:solidFill>
                  <a:srgbClr val="F1F5F9"/>
                </a:solidFill>
                <a:latin typeface="Helvetica Neue"/>
              </a:rPr>
              <a:t>9 journal
entry (SPOR)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615184"/>
            <a:ext cx="1783080" cy="585216"/>
          </a:xfrm>
          <a:prstGeom prst="roundRect">
            <a:avLst>
              <a:gd name="adj" fmla="val 12000"/>
            </a:avLst>
          </a:prstGeom>
          <a:solidFill>
            <a:srgbClr val="183667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>
                <a:solidFill>
                  <a:srgbClr val="F1F5F9"/>
                </a:solidFill>
                <a:latin typeface="Helvetica Neue"/>
              </a:rPr>
              <a:t>10 CQE + MSI-X
→ host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623560"/>
            <a:ext cx="10972800" cy="566928"/>
          </a:xfrm>
          <a:prstGeom prst="roundRect">
            <a:avLst>
              <a:gd name="adj" fmla="val 10000"/>
            </a:avLst>
          </a:prstGeom>
          <a:solidFill>
            <a:srgbClr val="0C3B35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With Volatile Write Cache (FUA=0)</a:t>
            </a:r>
          </a:p>
          <a:p>
            <a:pPr algn="ctr"/>
            <a:r>
              <a:rPr sz="1100">
                <a:solidFill>
                  <a:srgbClr val="94A3B8"/>
                </a:solidFill>
                <a:latin typeface="Helvetica Neue"/>
              </a:rPr>
              <a:t>the command completes at step 3 — data safe in PLP-protected DRAM — and the NAND program happens in the background.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